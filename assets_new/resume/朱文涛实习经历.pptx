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4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5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notesSlides/notesSlide6.xml" ContentType="application/vnd.openxmlformats-officedocument.presentationml.notes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8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9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10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1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12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13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14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15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6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17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8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19.xml" ContentType="application/vnd.openxmlformats-officedocument.presentationml.notesSlide+xml"/>
  <Override PartName="/ppt/tags/tag1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67" r:id="rId2"/>
    <p:sldId id="277" r:id="rId3"/>
    <p:sldId id="276" r:id="rId4"/>
    <p:sldId id="258" r:id="rId5"/>
    <p:sldId id="257" r:id="rId6"/>
    <p:sldId id="280" r:id="rId7"/>
    <p:sldId id="279" r:id="rId8"/>
    <p:sldId id="262" r:id="rId9"/>
    <p:sldId id="260" r:id="rId10"/>
    <p:sldId id="261" r:id="rId11"/>
    <p:sldId id="281" r:id="rId12"/>
    <p:sldId id="263" r:id="rId13"/>
    <p:sldId id="272" r:id="rId14"/>
    <p:sldId id="271" r:id="rId15"/>
    <p:sldId id="266" r:id="rId16"/>
    <p:sldId id="274" r:id="rId17"/>
    <p:sldId id="282" r:id="rId18"/>
    <p:sldId id="284" r:id="rId19"/>
    <p:sldId id="286" r:id="rId20"/>
    <p:sldId id="287" r:id="rId21"/>
    <p:sldId id="288" r:id="rId22"/>
    <p:sldId id="289" r:id="rId23"/>
    <p:sldId id="290" r:id="rId24"/>
    <p:sldId id="291" r:id="rId25"/>
    <p:sldId id="294" r:id="rId26"/>
    <p:sldId id="295" r:id="rId27"/>
    <p:sldId id="292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49" autoAdjust="0"/>
    <p:restoredTop sz="80616"/>
  </p:normalViewPr>
  <p:slideViewPr>
    <p:cSldViewPr snapToGrid="0" showGuides="1">
      <p:cViewPr>
        <p:scale>
          <a:sx n="101" d="100"/>
          <a:sy n="101" d="100"/>
        </p:scale>
        <p:origin x="-296" y="-592"/>
      </p:cViewPr>
      <p:guideLst>
        <p:guide orient="horz" pos="2167"/>
        <p:guide pos="3838"/>
      </p:guideLst>
    </p:cSldViewPr>
  </p:slideViewPr>
  <p:notesTextViewPr>
    <p:cViewPr>
      <p:scale>
        <a:sx n="105" d="100"/>
        <a:sy n="10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99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面向推荐、搜索、神抢手、拼好饭等多业务精排模型独立建设、用户表征与样本链路重复的问题，构建全场景统一精排模型；首先建设统一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User Profile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，融合多业务行为序列形成统一外卖兴趣表征，并基于用户聚合压缩样本实现天级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UG 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分离，样本产出时耗降低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57%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；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742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基于混合式架构将用户画像、历史行为、实时行为及候选商家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/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商品统一编码为异构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Token 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流，采用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HSTU 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进行端到端序列建模，设计全业务动态混合因果掩码防止数据泄漏，并引入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Group </a:t>
            </a:r>
            <a:r>
              <a:rPr lang="en-US" altLang="zh-CN" sz="1800" b="0" dirty="0" err="1">
                <a:effectLst/>
                <a:ea typeface="微软雅黑" panose="020B0503020204020204" pitchFamily="34" charset="-122"/>
              </a:rPr>
              <a:t>LayerNorm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对齐不同语义空间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Token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。遵循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Scaling Law 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持续扩展数据与模型规模至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0.2B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，在神抢手场景较基线离在线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PAY-GAUC 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提升均超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1.0pp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，拼好饭、搜索场景离线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CXR-GAUC 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分别提升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 1.55pp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1800" b="0" dirty="0">
                <a:effectLst/>
                <a:ea typeface="微软雅黑" panose="020B0503020204020204" pitchFamily="34" charset="-122"/>
              </a:rPr>
              <a:t>0.51pp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09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865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Plasticity</a:t>
            </a:r>
            <a:r>
              <a:rPr lang="zh-CN" altLang="en" dirty="0"/>
              <a:t>：</a:t>
            </a:r>
            <a:r>
              <a:rPr lang="zh-CN" altLang="en-US" dirty="0"/>
              <a:t>及时吸收新主播、新内容和新兴趣； </a:t>
            </a:r>
            <a:endParaRPr lang="en-US" altLang="zh-CN" dirty="0"/>
          </a:p>
          <a:p>
            <a:r>
              <a:rPr lang="en" altLang="zh-CN" dirty="0"/>
              <a:t>Stability</a:t>
            </a:r>
            <a:r>
              <a:rPr lang="zh-CN" altLang="en" dirty="0"/>
              <a:t>：</a:t>
            </a:r>
            <a:r>
              <a:rPr lang="zh-CN" altLang="en-US" dirty="0"/>
              <a:t>保持 </a:t>
            </a:r>
            <a:r>
              <a:rPr lang="en" altLang="zh-CN" dirty="0"/>
              <a:t>Token </a:t>
            </a:r>
            <a:r>
              <a:rPr lang="zh-CN" altLang="en-US" dirty="0"/>
              <a:t>语义、主播编码和下游 </a:t>
            </a:r>
            <a:r>
              <a:rPr lang="en" altLang="zh-CN" dirty="0"/>
              <a:t>Label </a:t>
            </a:r>
            <a:r>
              <a:rPr lang="zh-CN" altLang="en-US" dirty="0"/>
              <a:t>的相对稳定。</a:t>
            </a:r>
            <a:endParaRPr lang="en-US" altLang="zh-CN" dirty="0"/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我们将主播</a:t>
            </a:r>
            <a:r>
              <a:rPr lang="en" altLang="zh-CN" dirty="0"/>
              <a:t>Tokenizer</a:t>
            </a:r>
            <a:r>
              <a:rPr lang="zh-CN" altLang="en-US" dirty="0"/>
              <a:t>构建为一个稳定约束下持续演化的离散语义空间。在表征侧，门控融合 </a:t>
            </a:r>
            <a:r>
              <a:rPr lang="en" altLang="zh-CN" dirty="0"/>
              <a:t>MMU </a:t>
            </a:r>
            <a:r>
              <a:rPr lang="zh-CN" altLang="en-US" dirty="0"/>
              <a:t>多模态语义和用户</a:t>
            </a:r>
            <a:r>
              <a:rPr lang="en-US" altLang="zh-CN" dirty="0"/>
              <a:t>—</a:t>
            </a:r>
            <a:r>
              <a:rPr lang="zh-CN" altLang="en-US" dirty="0"/>
              <a:t>主播协同信号，使主播表示同时包含内容语义与推荐关系；在离散化侧，通过 </a:t>
            </a:r>
            <a:r>
              <a:rPr lang="en" altLang="zh-CN" dirty="0"/>
              <a:t>RQ-VAE </a:t>
            </a:r>
            <a:r>
              <a:rPr lang="zh-CN" altLang="en-US" dirty="0"/>
              <a:t>生成层次化 </a:t>
            </a:r>
            <a:r>
              <a:rPr lang="en" altLang="zh-CN" dirty="0"/>
              <a:t>Token</a:t>
            </a:r>
            <a:r>
              <a:rPr lang="zh-CN" altLang="en" dirty="0"/>
              <a:t>，</a:t>
            </a:r>
            <a:r>
              <a:rPr lang="zh-CN" altLang="en-US" dirty="0"/>
              <a:t>并利用语义重构、协同对齐和码本多样性三类约束，分别保证语义可解释性、推荐相关性和码本健康度；在演化侧，采用全量主播 </a:t>
            </a:r>
            <a:r>
              <a:rPr lang="en" altLang="zh-CN" dirty="0"/>
              <a:t>Res-</a:t>
            </a:r>
            <a:r>
              <a:rPr lang="en" altLang="zh-CN" dirty="0" err="1"/>
              <a:t>KMeans</a:t>
            </a:r>
            <a:r>
              <a:rPr lang="en" altLang="zh-CN" dirty="0"/>
              <a:t> </a:t>
            </a:r>
            <a:r>
              <a:rPr lang="zh-CN" altLang="en-US" dirty="0"/>
              <a:t>完成稳定初始化，并通过受控的周期增量更新吸收新主播和语义变化，同时治理死码、码本坍缩和 </a:t>
            </a:r>
            <a:r>
              <a:rPr lang="en" altLang="zh-CN" dirty="0"/>
              <a:t>Token </a:t>
            </a:r>
            <a:r>
              <a:rPr lang="zh-CN" altLang="en-US" dirty="0"/>
              <a:t>跳变。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139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386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416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900" dirty="0"/>
              <a:t>这个项目主要是做异形卡的个性化 </a:t>
            </a:r>
            <a:r>
              <a:rPr lang="en" altLang="zh-CN" sz="900" dirty="0"/>
              <a:t>LLM Query </a:t>
            </a:r>
            <a:r>
              <a:rPr lang="zh-CN" altLang="en-US" sz="900" dirty="0"/>
              <a:t>生成式召回。传统热门词和 </a:t>
            </a:r>
            <a:r>
              <a:rPr lang="en" altLang="zh-CN" sz="900" dirty="0"/>
              <a:t>U2Q </a:t>
            </a:r>
            <a:r>
              <a:rPr lang="zh-CN" altLang="en-US" sz="900" dirty="0"/>
              <a:t>更多依赖群体共现，对用户长期兴趣、最近行为变化以及长尾意图的刻画比较弱，所以我们的核心思路是让 </a:t>
            </a:r>
            <a:r>
              <a:rPr lang="en" altLang="zh-CN" sz="900" dirty="0"/>
              <a:t>LLM </a:t>
            </a:r>
            <a:r>
              <a:rPr lang="zh-CN" altLang="en-US" sz="900" dirty="0"/>
              <a:t>直接基于用户上下文生成个性化 </a:t>
            </a:r>
            <a:r>
              <a:rPr lang="en" altLang="zh-CN" sz="900" dirty="0"/>
              <a:t>Query</a:t>
            </a:r>
            <a:r>
              <a:rPr lang="zh-CN" altLang="en" sz="900" dirty="0"/>
              <a:t>。</a:t>
            </a:r>
          </a:p>
          <a:p>
            <a:r>
              <a:rPr lang="zh-CN" altLang="en-US" sz="900" dirty="0"/>
              <a:t>首先在用户侧，我们把</a:t>
            </a:r>
            <a:r>
              <a:rPr lang="zh-CN" altLang="en-US" sz="900" b="1" dirty="0"/>
              <a:t>长期电商 </a:t>
            </a:r>
            <a:r>
              <a:rPr lang="en" altLang="zh-CN" sz="900" b="1" dirty="0"/>
              <a:t>Memory</a:t>
            </a:r>
            <a:r>
              <a:rPr lang="zh-CN" altLang="en" sz="900" b="1" dirty="0"/>
              <a:t>、</a:t>
            </a:r>
            <a:r>
              <a:rPr lang="zh-CN" altLang="en-US" sz="900" b="1" dirty="0"/>
              <a:t>短期搜索</a:t>
            </a:r>
            <a:r>
              <a:rPr lang="en-US" altLang="zh-CN" sz="900" b="1" dirty="0"/>
              <a:t>/</a:t>
            </a:r>
            <a:r>
              <a:rPr lang="zh-CN" altLang="en-US" sz="900" b="1" dirty="0"/>
              <a:t>点击</a:t>
            </a:r>
            <a:r>
              <a:rPr lang="en-US" altLang="zh-CN" sz="900" b="1" dirty="0"/>
              <a:t>/</a:t>
            </a:r>
            <a:r>
              <a:rPr lang="zh-CN" altLang="en-US" sz="900" b="1" dirty="0"/>
              <a:t>加购</a:t>
            </a:r>
            <a:r>
              <a:rPr lang="en-US" altLang="zh-CN" sz="900" b="1" dirty="0"/>
              <a:t>/</a:t>
            </a:r>
            <a:r>
              <a:rPr lang="zh-CN" altLang="en-US" sz="900" b="1" dirty="0"/>
              <a:t>下单行为，以及电商兴趣图谱</a:t>
            </a:r>
            <a:r>
              <a:rPr lang="zh-CN" altLang="en-US" sz="900" dirty="0"/>
              <a:t>统一组织成用户意图表征。长期 </a:t>
            </a:r>
            <a:r>
              <a:rPr lang="en" altLang="zh-CN" sz="900" dirty="0"/>
              <a:t>Memory </a:t>
            </a:r>
            <a:r>
              <a:rPr lang="zh-CN" altLang="en-US" sz="900" dirty="0"/>
              <a:t>负责稳定兴趣，短期行为负责捕捉实时需求，兴趣图谱补充类目、品牌和细粒度语义泛化。</a:t>
            </a:r>
          </a:p>
          <a:p>
            <a:r>
              <a:rPr lang="zh-CN" altLang="en-US" sz="900" dirty="0"/>
              <a:t>训练上分两阶段。第一阶段做 </a:t>
            </a:r>
            <a:r>
              <a:rPr lang="en" altLang="zh-CN" sz="900" b="1" dirty="0"/>
              <a:t>SFT</a:t>
            </a:r>
            <a:r>
              <a:rPr lang="zh-CN" altLang="en" sz="900" dirty="0"/>
              <a:t>，</a:t>
            </a:r>
            <a:r>
              <a:rPr lang="zh-CN" altLang="en-US" sz="900" dirty="0"/>
              <a:t>将真实线上搜索日志和 </a:t>
            </a:r>
            <a:r>
              <a:rPr lang="en" altLang="zh-CN" sz="900" dirty="0"/>
              <a:t>GPT-5.5 </a:t>
            </a:r>
            <a:r>
              <a:rPr lang="zh-CN" altLang="en-US" sz="900" dirty="0"/>
              <a:t>生成的高质量 </a:t>
            </a:r>
            <a:r>
              <a:rPr lang="en" altLang="zh-CN" sz="900" dirty="0"/>
              <a:t>Query </a:t>
            </a:r>
            <a:r>
              <a:rPr lang="zh-CN" altLang="en-US" sz="900" dirty="0"/>
              <a:t>混合构造监督数据，训练 </a:t>
            </a:r>
            <a:r>
              <a:rPr lang="en" altLang="zh-CN" sz="900" dirty="0"/>
              <a:t>Qwen3-4B</a:t>
            </a:r>
            <a:r>
              <a:rPr lang="zh-CN" altLang="en" sz="900" dirty="0"/>
              <a:t>，</a:t>
            </a:r>
            <a:r>
              <a:rPr lang="zh-CN" altLang="en-US" sz="900" dirty="0"/>
              <a:t>让模型先学会真实搜索语言和基础业务生成能力；第二阶段做 </a:t>
            </a:r>
            <a:r>
              <a:rPr lang="en" altLang="zh-CN" sz="900" b="1" dirty="0"/>
              <a:t>DPO</a:t>
            </a:r>
            <a:r>
              <a:rPr lang="zh-CN" altLang="en" sz="900" dirty="0"/>
              <a:t>，</a:t>
            </a:r>
            <a:r>
              <a:rPr lang="zh-CN" altLang="en-US" sz="900" dirty="0"/>
              <a:t>针对 </a:t>
            </a:r>
            <a:r>
              <a:rPr lang="en" altLang="zh-CN" sz="900" dirty="0"/>
              <a:t>SFT </a:t>
            </a:r>
            <a:r>
              <a:rPr lang="zh-CN" altLang="en-US" sz="900" dirty="0"/>
              <a:t>容易生成泛词、幻觉和非电商内容的问题，用精排高分 </a:t>
            </a:r>
            <a:r>
              <a:rPr lang="en" altLang="zh-CN" sz="900" dirty="0"/>
              <a:t>Query </a:t>
            </a:r>
            <a:r>
              <a:rPr lang="zh-CN" altLang="en-US" sz="900" dirty="0"/>
              <a:t>作为正样本，并引入曝光未点击和排序困难负样本做偏好对齐，进一步强化模型对业务价值和排序偏好的感知。</a:t>
            </a:r>
          </a:p>
          <a:p>
            <a:r>
              <a:rPr lang="zh-CN" altLang="en-US" sz="900" dirty="0"/>
              <a:t>解码阶段最终采用 </a:t>
            </a:r>
            <a:r>
              <a:rPr lang="en" altLang="zh-CN" sz="900" b="1" dirty="0"/>
              <a:t>Beam Search</a:t>
            </a:r>
            <a:r>
              <a:rPr lang="zh-CN" altLang="en" sz="900" dirty="0"/>
              <a:t>，</a:t>
            </a:r>
            <a:r>
              <a:rPr lang="zh-CN" altLang="en-US" sz="900" dirty="0"/>
              <a:t>相比重复采样可以扩大搜索空间，同时提升 </a:t>
            </a:r>
            <a:r>
              <a:rPr lang="en" altLang="zh-CN" sz="900" dirty="0"/>
              <a:t>Top-K </a:t>
            </a:r>
            <a:r>
              <a:rPr lang="zh-CN" altLang="en-US" sz="900" dirty="0"/>
              <a:t>命中和候选多样性；线上再通过去重和传统召回 </a:t>
            </a:r>
            <a:r>
              <a:rPr lang="en" altLang="zh-CN" sz="900" dirty="0"/>
              <a:t>Merge </a:t>
            </a:r>
            <a:r>
              <a:rPr lang="zh-CN" altLang="en-US" sz="900" dirty="0"/>
              <a:t>保证候选覆盖。</a:t>
            </a:r>
            <a:r>
              <a:rPr lang="en" altLang="zh-CN" sz="900" dirty="0"/>
              <a:t>Serving </a:t>
            </a:r>
            <a:r>
              <a:rPr lang="zh-CN" altLang="en-US" sz="900" dirty="0"/>
              <a:t>侧采用</a:t>
            </a:r>
            <a:r>
              <a:rPr lang="zh-CN" altLang="en-US" sz="900" b="1" dirty="0"/>
              <a:t>离线全量 </a:t>
            </a:r>
            <a:r>
              <a:rPr lang="en-US" altLang="zh-CN" sz="900" b="1" dirty="0"/>
              <a:t>+ </a:t>
            </a:r>
            <a:r>
              <a:rPr lang="zh-CN" altLang="en-US" sz="900" b="1" dirty="0"/>
              <a:t>近线增量更新</a:t>
            </a:r>
            <a:r>
              <a:rPr lang="zh-CN" altLang="en-US" sz="900" dirty="0"/>
              <a:t>，保证长期兴趣稳定的同时，新的搜索和电商行为能够快速反映到 </a:t>
            </a:r>
            <a:r>
              <a:rPr lang="en" altLang="zh-CN" sz="900" dirty="0"/>
              <a:t>Query </a:t>
            </a:r>
            <a:r>
              <a:rPr lang="zh-CN" altLang="en-US" sz="900" dirty="0"/>
              <a:t>候选中。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95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最终采用 </a:t>
            </a:r>
            <a:r>
              <a:rPr lang="en" altLang="zh-CN" sz="1200" b="1" dirty="0"/>
              <a:t>Qwen3-4B + Pointwise DPO</a:t>
            </a:r>
            <a:r>
              <a:rPr lang="zh-CN" altLang="en" sz="1200" b="1" dirty="0"/>
              <a:t>（</a:t>
            </a:r>
            <a:r>
              <a:rPr lang="zh-CN" altLang="en-US" sz="1200" b="1" dirty="0"/>
              <a:t>排序困难负样本）</a:t>
            </a:r>
            <a:r>
              <a:rPr lang="en-US" altLang="zh-CN" sz="1200" b="1" dirty="0"/>
              <a:t>+ </a:t>
            </a:r>
            <a:r>
              <a:rPr lang="en" altLang="zh-CN" sz="1200" b="1" dirty="0"/>
              <a:t>Beam Search</a:t>
            </a:r>
            <a:r>
              <a:rPr lang="zh-CN" altLang="en" sz="1200" dirty="0"/>
              <a:t>，</a:t>
            </a:r>
            <a:r>
              <a:rPr lang="zh-CN" altLang="en-US" sz="1200" dirty="0"/>
              <a:t>全量召回占比约 </a:t>
            </a:r>
            <a:r>
              <a:rPr lang="en-US" altLang="zh-CN" sz="1200" b="1" dirty="0"/>
              <a:t>40%</a:t>
            </a:r>
            <a:r>
              <a:rPr lang="zh-CN" altLang="en-US" sz="1200" dirty="0"/>
              <a:t>，独占召回约 </a:t>
            </a:r>
            <a:r>
              <a:rPr lang="en-US" altLang="zh-CN" sz="1200" b="1" dirty="0"/>
              <a:t>5%</a:t>
            </a:r>
            <a:r>
              <a:rPr lang="zh-CN" altLang="en-US" sz="1200" dirty="0"/>
              <a:t>；</a:t>
            </a:r>
            <a:r>
              <a:rPr lang="en" altLang="zh-CN" sz="1200" dirty="0"/>
              <a:t>PH </a:t>
            </a:r>
            <a:r>
              <a:rPr lang="zh-CN" altLang="en-US" sz="1200" dirty="0"/>
              <a:t>地区上线后，</a:t>
            </a:r>
            <a:r>
              <a:rPr lang="en" altLang="zh-CN" sz="1200" b="1" dirty="0"/>
              <a:t>PV-CTR +1.45pp</a:t>
            </a:r>
            <a:r>
              <a:rPr lang="zh-CN" altLang="en" sz="1200" b="1" dirty="0"/>
              <a:t>，</a:t>
            </a:r>
            <a:r>
              <a:rPr lang="en" altLang="zh-CN" sz="1200" b="1" dirty="0"/>
              <a:t>PV-CTCVR +0.54pp</a:t>
            </a:r>
            <a:r>
              <a:rPr lang="zh-CN" altLang="en" sz="1200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2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主要是在 </a:t>
            </a:r>
            <a:r>
              <a:rPr lang="en" altLang="zh-CN" dirty="0"/>
              <a:t>ROW </a:t>
            </a:r>
            <a:r>
              <a:rPr lang="zh-CN" altLang="en-US" dirty="0"/>
              <a:t>商城 </a:t>
            </a:r>
            <a:r>
              <a:rPr lang="en" altLang="zh-CN" dirty="0"/>
              <a:t>CTR </a:t>
            </a:r>
            <a:r>
              <a:rPr lang="zh-CN" altLang="en-US" dirty="0"/>
              <a:t>精排模型上做 </a:t>
            </a:r>
            <a:r>
              <a:rPr lang="en" altLang="zh-CN" dirty="0" err="1"/>
              <a:t>OneTrans</a:t>
            </a:r>
            <a:r>
              <a:rPr lang="en" altLang="zh-CN" dirty="0"/>
              <a:t> </a:t>
            </a:r>
            <a:r>
              <a:rPr lang="zh-CN" altLang="en-US" dirty="0"/>
              <a:t>结构改造。背景是之前 </a:t>
            </a:r>
            <a:r>
              <a:rPr lang="en" altLang="zh-CN" dirty="0"/>
              <a:t>Scale Up </a:t>
            </a:r>
            <a:r>
              <a:rPr lang="zh-CN" altLang="en-US" dirty="0"/>
              <a:t>过程中模型不断叠加模块，参数已经涨到接近 </a:t>
            </a:r>
            <a:r>
              <a:rPr lang="en-US" altLang="zh-CN" dirty="0"/>
              <a:t>3 </a:t>
            </a:r>
            <a:r>
              <a:rPr lang="zh-CN" altLang="en-US" dirty="0"/>
              <a:t>亿，模型结构比较复杂，训练和线上 </a:t>
            </a:r>
            <a:r>
              <a:rPr lang="en" altLang="zh-CN" dirty="0"/>
              <a:t>Serving </a:t>
            </a:r>
            <a:r>
              <a:rPr lang="zh-CN" altLang="en-US" dirty="0"/>
              <a:t>成本也越来越高</a:t>
            </a:r>
          </a:p>
          <a:p>
            <a:r>
              <a:rPr lang="zh-CN" altLang="en-US" dirty="0"/>
              <a:t>具体做了三个主要改动。第一是</a:t>
            </a:r>
            <a:r>
              <a:rPr lang="zh-CN" altLang="en-US" b="1" dirty="0"/>
              <a:t>统一序列建模</a:t>
            </a:r>
            <a:r>
              <a:rPr lang="zh-CN" altLang="en-US" dirty="0"/>
              <a:t>，去掉原来分散的短序列 </a:t>
            </a:r>
            <a:r>
              <a:rPr lang="en" altLang="zh-CN" dirty="0"/>
              <a:t>DIN</a:t>
            </a:r>
            <a:r>
              <a:rPr lang="zh-CN" altLang="en" dirty="0"/>
              <a:t>，</a:t>
            </a:r>
            <a:r>
              <a:rPr lang="zh-CN" altLang="en-US" dirty="0"/>
              <a:t>把 </a:t>
            </a:r>
            <a:r>
              <a:rPr lang="en" altLang="zh-CN" dirty="0"/>
              <a:t>View</a:t>
            </a:r>
            <a:r>
              <a:rPr lang="zh-CN" altLang="en" dirty="0"/>
              <a:t>、</a:t>
            </a:r>
            <a:r>
              <a:rPr lang="en" altLang="zh-CN" dirty="0"/>
              <a:t>Cart</a:t>
            </a:r>
            <a:r>
              <a:rPr lang="zh-CN" altLang="en" dirty="0"/>
              <a:t>、</a:t>
            </a:r>
            <a:r>
              <a:rPr lang="en" altLang="zh-CN" dirty="0"/>
              <a:t>Order </a:t>
            </a:r>
            <a:r>
              <a:rPr lang="zh-CN" altLang="en-US" dirty="0"/>
              <a:t>等行为合并成 </a:t>
            </a:r>
            <a:r>
              <a:rPr lang="en" altLang="zh-CN" dirty="0"/>
              <a:t>Product </a:t>
            </a:r>
            <a:r>
              <a:rPr lang="zh-CN" altLang="en-US" dirty="0"/>
              <a:t>序列，同时保留 </a:t>
            </a:r>
            <a:r>
              <a:rPr lang="en" altLang="zh-CN" dirty="0"/>
              <a:t>Search </a:t>
            </a:r>
            <a:r>
              <a:rPr lang="zh-CN" altLang="en-US" dirty="0"/>
              <a:t>和 </a:t>
            </a:r>
            <a:r>
              <a:rPr lang="en" altLang="zh-CN" dirty="0"/>
              <a:t>Video/Live </a:t>
            </a:r>
            <a:r>
              <a:rPr lang="zh-CN" altLang="en-US" dirty="0"/>
              <a:t>序列，统一加入 </a:t>
            </a:r>
            <a:r>
              <a:rPr lang="en" altLang="zh-CN" dirty="0"/>
              <a:t>Type Embedding </a:t>
            </a:r>
            <a:r>
              <a:rPr lang="zh-CN" altLang="en-US" dirty="0"/>
              <a:t>和 </a:t>
            </a:r>
            <a:r>
              <a:rPr lang="en" altLang="zh-CN" dirty="0"/>
              <a:t>Position Embedding</a:t>
            </a:r>
            <a:r>
              <a:rPr lang="zh-CN" altLang="en" dirty="0"/>
              <a:t>，</a:t>
            </a:r>
            <a:r>
              <a:rPr lang="zh-CN" altLang="en-US" dirty="0"/>
              <a:t>再通过高效的 </a:t>
            </a:r>
            <a:r>
              <a:rPr lang="en" altLang="zh-CN" dirty="0"/>
              <a:t>Cross Attention </a:t>
            </a:r>
            <a:r>
              <a:rPr lang="zh-CN" altLang="en-US" dirty="0"/>
              <a:t>与候选侧进行交互。第二是去掉 </a:t>
            </a:r>
            <a:r>
              <a:rPr lang="en" altLang="zh-CN" dirty="0" err="1"/>
              <a:t>SlotNet</a:t>
            </a:r>
            <a:r>
              <a:rPr lang="en" altLang="zh-CN" dirty="0"/>
              <a:t> </a:t>
            </a:r>
            <a:r>
              <a:rPr lang="zh-CN" altLang="en-US" dirty="0"/>
              <a:t>等非序列特征预处理模块，把原始特征直接交给核心 </a:t>
            </a:r>
            <a:r>
              <a:rPr lang="en" altLang="zh-CN" dirty="0"/>
              <a:t>MixTrans</a:t>
            </a:r>
            <a:r>
              <a:rPr lang="zh-CN" altLang="en" dirty="0"/>
              <a:t>，</a:t>
            </a:r>
            <a:r>
              <a:rPr lang="zh-CN" altLang="en-US" dirty="0"/>
              <a:t>减少冗余计算。第三是把 </a:t>
            </a:r>
            <a:r>
              <a:rPr lang="en" altLang="zh-CN" dirty="0"/>
              <a:t>MixTrans </a:t>
            </a:r>
            <a:r>
              <a:rPr lang="zh-CN" altLang="en-US" dirty="0"/>
              <a:t>从原来的每层 </a:t>
            </a:r>
            <a:r>
              <a:rPr lang="en-US" altLang="zh-CN" dirty="0"/>
              <a:t>64 </a:t>
            </a:r>
            <a:r>
              <a:rPr lang="zh-CN" altLang="en-US" dirty="0"/>
              <a:t>个 </a:t>
            </a:r>
            <a:r>
              <a:rPr lang="en" altLang="zh-CN" dirty="0"/>
              <a:t>Token </a:t>
            </a:r>
            <a:r>
              <a:rPr lang="zh-CN" altLang="en-US" dirty="0"/>
              <a:t>改成 </a:t>
            </a:r>
            <a:r>
              <a:rPr lang="en-US" altLang="zh-CN" b="1" dirty="0"/>
              <a:t>64</a:t>
            </a:r>
            <a:r>
              <a:rPr lang="zh-CN" altLang="en-US" b="1" dirty="0"/>
              <a:t>、</a:t>
            </a:r>
            <a:r>
              <a:rPr lang="en-US" altLang="zh-CN" b="1" dirty="0"/>
              <a:t>64</a:t>
            </a:r>
            <a:r>
              <a:rPr lang="zh-CN" altLang="en-US" b="1" dirty="0"/>
              <a:t>、</a:t>
            </a:r>
            <a:r>
              <a:rPr lang="en-US" altLang="zh-CN" b="1" dirty="0"/>
              <a:t>32</a:t>
            </a:r>
            <a:r>
              <a:rPr lang="zh-CN" altLang="en-US" b="1" dirty="0"/>
              <a:t>、</a:t>
            </a:r>
            <a:r>
              <a:rPr lang="en-US" altLang="zh-CN" b="1" dirty="0"/>
              <a:t>16 </a:t>
            </a:r>
            <a:r>
              <a:rPr lang="zh-CN" altLang="en-US" b="1" dirty="0"/>
              <a:t>的金字塔结构</a:t>
            </a:r>
            <a:r>
              <a:rPr lang="zh-CN" altLang="en-US" dirty="0"/>
              <a:t>，逐层压缩表示，减少最后 </a:t>
            </a:r>
            <a:r>
              <a:rPr lang="en" altLang="zh-CN" dirty="0"/>
              <a:t>Dense Tower </a:t>
            </a:r>
            <a:r>
              <a:rPr lang="zh-CN" altLang="en-US" dirty="0"/>
              <a:t>的参数和计算量。</a:t>
            </a:r>
          </a:p>
          <a:p>
            <a:r>
              <a:rPr lang="zh-CN" altLang="en-US" dirty="0"/>
              <a:t>最终模型综合 </a:t>
            </a:r>
            <a:r>
              <a:rPr lang="en" altLang="zh-CN" dirty="0"/>
              <a:t>AUC </a:t>
            </a:r>
            <a:r>
              <a:rPr lang="zh-CN" altLang="en-US" dirty="0"/>
              <a:t>小幅正向，其中异形卡 </a:t>
            </a:r>
            <a:r>
              <a:rPr lang="en" altLang="zh-CN" dirty="0"/>
              <a:t>AUC </a:t>
            </a:r>
            <a:r>
              <a:rPr lang="en" altLang="zh-CN" b="1" dirty="0"/>
              <a:t>+0.</a:t>
            </a:r>
            <a:r>
              <a:rPr lang="en-US" altLang="zh-CN" b="1" dirty="0"/>
              <a:t>9</a:t>
            </a:r>
            <a:r>
              <a:rPr lang="en" altLang="zh-CN" b="1" dirty="0"/>
              <a:t>%</a:t>
            </a:r>
            <a:r>
              <a:rPr lang="zh-CN" altLang="en" dirty="0"/>
              <a:t>；</a:t>
            </a:r>
            <a:r>
              <a:rPr lang="zh-CN" altLang="en-US" dirty="0"/>
              <a:t>同时参数量从 </a:t>
            </a:r>
            <a:r>
              <a:rPr lang="en-US" altLang="zh-CN" b="1" dirty="0"/>
              <a:t>293</a:t>
            </a:r>
            <a:r>
              <a:rPr lang="en" altLang="zh-CN" b="1" dirty="0"/>
              <a:t>M </a:t>
            </a:r>
            <a:r>
              <a:rPr lang="zh-CN" altLang="en-US" b="1" dirty="0"/>
              <a:t>降到 </a:t>
            </a:r>
            <a:r>
              <a:rPr lang="en-US" altLang="zh-CN" b="1" dirty="0"/>
              <a:t>231</a:t>
            </a:r>
            <a:r>
              <a:rPr lang="en" altLang="zh-CN" b="1" dirty="0"/>
              <a:t>M</a:t>
            </a:r>
            <a:r>
              <a:rPr lang="zh-CN" altLang="en" dirty="0"/>
              <a:t>，</a:t>
            </a:r>
            <a:r>
              <a:rPr lang="en" altLang="zh-CN" dirty="0"/>
              <a:t>FLOPs </a:t>
            </a:r>
            <a:r>
              <a:rPr lang="zh-CN" altLang="en-US" dirty="0"/>
              <a:t>从 </a:t>
            </a:r>
            <a:r>
              <a:rPr lang="en-US" altLang="zh-CN" b="1" dirty="0"/>
              <a:t>9.5</a:t>
            </a:r>
            <a:r>
              <a:rPr lang="en" altLang="zh-CN" b="1" dirty="0"/>
              <a:t>T </a:t>
            </a:r>
            <a:r>
              <a:rPr lang="zh-CN" altLang="en-US" b="1" dirty="0"/>
              <a:t>降到 </a:t>
            </a:r>
            <a:r>
              <a:rPr lang="en-US" altLang="zh-CN" b="1" dirty="0"/>
              <a:t>7.3</a:t>
            </a:r>
            <a:r>
              <a:rPr lang="en" altLang="zh-CN" b="1" dirty="0"/>
              <a:t>T</a:t>
            </a:r>
            <a:r>
              <a:rPr lang="zh-CN" altLang="en" dirty="0"/>
              <a:t>，</a:t>
            </a:r>
            <a:r>
              <a:rPr lang="zh-CN" altLang="en-US" dirty="0"/>
              <a:t>训练吞吐提升 </a:t>
            </a:r>
            <a:r>
              <a:rPr lang="en-US" altLang="zh-CN" b="1" dirty="0"/>
              <a:t>28%</a:t>
            </a:r>
            <a:r>
              <a:rPr lang="zh-CN" altLang="en-US" dirty="0"/>
              <a:t>，线上延迟下降约 </a:t>
            </a:r>
            <a:r>
              <a:rPr lang="en-US" altLang="zh-CN" b="1" dirty="0"/>
              <a:t>10%</a:t>
            </a:r>
            <a:r>
              <a:rPr lang="zh-CN" altLang="en-US" b="1" dirty="0"/>
              <a:t>～</a:t>
            </a:r>
            <a:r>
              <a:rPr lang="en-US" altLang="zh-CN" b="1" dirty="0"/>
              <a:t>11.6%</a:t>
            </a:r>
            <a:r>
              <a:rPr lang="zh-CN" altLang="en-US" dirty="0"/>
              <a:t>，预计三个集群可以节省约 </a:t>
            </a:r>
            <a:r>
              <a:rPr lang="en-US" altLang="zh-CN" b="1" dirty="0"/>
              <a:t>21 </a:t>
            </a:r>
            <a:r>
              <a:rPr lang="zh-CN" altLang="en-US" b="1" dirty="0"/>
              <a:t>张 </a:t>
            </a:r>
            <a:r>
              <a:rPr lang="en" altLang="zh-CN" b="1" dirty="0"/>
              <a:t>L20</a:t>
            </a:r>
            <a:r>
              <a:rPr lang="zh-CN" altLang="en" dirty="0"/>
              <a:t>。</a:t>
            </a:r>
            <a:r>
              <a:rPr lang="zh-CN" altLang="en-US" dirty="0"/>
              <a:t>所以这个项目最大的价值是在</a:t>
            </a:r>
            <a:r>
              <a:rPr lang="zh-CN" altLang="en-US" b="1" dirty="0"/>
              <a:t>效果基本持平甚至小幅提升的情况下，大幅降低了模型复杂度和线上资源成本</a:t>
            </a:r>
            <a:r>
              <a:rPr lang="zh-CN" altLang="en-US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840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PTO</a:t>
            </a:r>
            <a:r>
              <a:rPr lang="zh-CN" altLang="en-US" dirty="0"/>
              <a:t>：</a:t>
            </a:r>
            <a:r>
              <a:rPr lang="en" altLang="zh-CN" b="1" dirty="0"/>
              <a:t>Predict-then-Optimize</a:t>
            </a:r>
            <a:r>
              <a:rPr lang="zh-CN" altLang="en" b="1" dirty="0"/>
              <a:t>（</a:t>
            </a:r>
            <a:r>
              <a:rPr lang="zh-CN" altLang="en-US" b="1" dirty="0"/>
              <a:t>先预测、再优化）</a:t>
            </a:r>
            <a:endParaRPr lang="en-US" altLang="zh-CN" b="1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599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604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第一，</a:t>
            </a:r>
            <a:r>
              <a:rPr lang="zh-CN" altLang="en-US" b="1" dirty="0"/>
              <a:t>针对传统 </a:t>
            </a:r>
            <a:r>
              <a:rPr lang="en" altLang="zh-CN" b="1" dirty="0"/>
              <a:t>AutoResearch </a:t>
            </a:r>
            <a:r>
              <a:rPr lang="zh-CN" altLang="en-US" b="1" dirty="0"/>
              <a:t>容易把随机涨点、耦合改动误判为有效机制的问题</a:t>
            </a:r>
            <a:r>
              <a:rPr lang="zh-CN" altLang="en-US" dirty="0"/>
              <a:t>，我构建了归因驱动的 </a:t>
            </a:r>
            <a:r>
              <a:rPr lang="en" altLang="zh-CN" b="1" dirty="0"/>
              <a:t>AutoAttribRec </a:t>
            </a:r>
            <a:r>
              <a:rPr lang="zh-CN" altLang="en-US" b="1" dirty="0"/>
              <a:t>多 </a:t>
            </a:r>
            <a:r>
              <a:rPr lang="en" altLang="zh-CN" b="1" dirty="0"/>
              <a:t>Agent </a:t>
            </a:r>
            <a:r>
              <a:rPr lang="zh-CN" altLang="en-US" b="1" dirty="0"/>
              <a:t>框架</a:t>
            </a:r>
            <a:r>
              <a:rPr lang="zh-CN" altLang="en-US" dirty="0"/>
              <a:t>，把任务条件、机制假设、代码改动和预期效应显式化，避免模型只看最终指标做“事后归因”。</a:t>
            </a:r>
          </a:p>
          <a:p>
            <a:r>
              <a:rPr lang="zh-CN" altLang="en-US" dirty="0"/>
              <a:t>第二，框架核心是建立 </a:t>
            </a:r>
            <a:r>
              <a:rPr lang="zh-CN" altLang="en-US" b="1" dirty="0"/>
              <a:t>“提案依据</a:t>
            </a:r>
            <a:r>
              <a:rPr lang="en-US" altLang="zh-CN" b="1" dirty="0"/>
              <a:t>—</a:t>
            </a:r>
            <a:r>
              <a:rPr lang="zh-CN" altLang="en-US" b="1" dirty="0"/>
              <a:t>代码实现</a:t>
            </a:r>
            <a:r>
              <a:rPr lang="en-US" altLang="zh-CN" b="1" dirty="0"/>
              <a:t>—</a:t>
            </a:r>
            <a:r>
              <a:rPr lang="zh-CN" altLang="en-US" b="1" dirty="0"/>
              <a:t>实验结果”三级归因闭环</a:t>
            </a:r>
            <a:r>
              <a:rPr lang="zh-CN" altLang="en-US" dirty="0"/>
              <a:t>，利用预期与实际结果的偏差反向驱动问题重构、知识检索和代码生成；同时通过 </a:t>
            </a:r>
            <a:r>
              <a:rPr lang="en" altLang="zh-CN" b="1" dirty="0"/>
              <a:t>STM/LTM </a:t>
            </a:r>
            <a:r>
              <a:rPr lang="zh-CN" altLang="en-US" b="1" dirty="0"/>
              <a:t>分层记忆</a:t>
            </a:r>
            <a:r>
              <a:rPr lang="zh-CN" altLang="en-US" dirty="0"/>
              <a:t>，只沉淀有实验依据和适用边界的可信认知，减少错误经验被长期放大。</a:t>
            </a:r>
          </a:p>
          <a:p>
            <a:r>
              <a:rPr lang="zh-CN" altLang="en-US" dirty="0"/>
              <a:t>第三，在工程上打通知识注入、归因搜索、代码诊断、隔离实验、训练评测和归因评估，并落地到 </a:t>
            </a:r>
            <a:r>
              <a:rPr lang="en" altLang="zh-CN" b="1" dirty="0"/>
              <a:t>AIGB </a:t>
            </a:r>
            <a:r>
              <a:rPr lang="zh-CN" altLang="en-US" b="1" dirty="0"/>
              <a:t>环境模型和 </a:t>
            </a:r>
            <a:r>
              <a:rPr lang="en" altLang="zh-CN" b="1" dirty="0"/>
              <a:t>Joint Uplift </a:t>
            </a:r>
            <a:r>
              <a:rPr lang="zh-CN" altLang="en-US" b="1" dirty="0"/>
              <a:t>自动迭代</a:t>
            </a:r>
            <a:r>
              <a:rPr lang="zh-CN" altLang="en-US" dirty="0"/>
              <a:t>。最终环境模型 </a:t>
            </a:r>
            <a:r>
              <a:rPr lang="en" altLang="zh-CN" b="1" dirty="0"/>
              <a:t>ACC30 </a:t>
            </a:r>
            <a:r>
              <a:rPr lang="zh-CN" altLang="en-US" b="1" dirty="0"/>
              <a:t>提升 </a:t>
            </a:r>
            <a:r>
              <a:rPr lang="en-US" altLang="zh-CN" b="1" dirty="0"/>
              <a:t>4.6</a:t>
            </a:r>
            <a:r>
              <a:rPr lang="en" altLang="zh-CN" b="1" dirty="0"/>
              <a:t>pt</a:t>
            </a:r>
            <a:r>
              <a:rPr lang="zh-CN" altLang="en" dirty="0"/>
              <a:t>，</a:t>
            </a:r>
            <a:r>
              <a:rPr lang="en" altLang="zh-CN" dirty="0"/>
              <a:t>Uplift </a:t>
            </a:r>
            <a:r>
              <a:rPr lang="zh-CN" altLang="en-US" dirty="0"/>
              <a:t>经过多轮自动搜索后 </a:t>
            </a:r>
            <a:r>
              <a:rPr lang="en" altLang="zh-CN" b="1" dirty="0"/>
              <a:t>MAPE </a:t>
            </a:r>
            <a:r>
              <a:rPr lang="zh-CN" altLang="en-US" b="1" dirty="0"/>
              <a:t>从 </a:t>
            </a:r>
            <a:r>
              <a:rPr lang="en-US" altLang="zh-CN" b="1" dirty="0"/>
              <a:t>49.83% </a:t>
            </a:r>
            <a:r>
              <a:rPr lang="zh-CN" altLang="en-US" b="1" dirty="0"/>
              <a:t>降到 </a:t>
            </a:r>
            <a:r>
              <a:rPr lang="en-US" altLang="zh-CN" b="1" dirty="0"/>
              <a:t>44.13%</a:t>
            </a:r>
            <a:r>
              <a:rPr lang="zh-CN" altLang="en-US" dirty="0"/>
              <a:t>，相关工作投稿 </a:t>
            </a:r>
            <a:r>
              <a:rPr lang="en" altLang="zh-CN" dirty="0"/>
              <a:t>AAAI</a:t>
            </a:r>
            <a:r>
              <a:rPr lang="zh-CN" altLang="e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" altLang="zh-CN" sz="1800" dirty="0"/>
              <a:t>AIGB</a:t>
            </a:r>
            <a:r>
              <a:rPr lang="zh-CN" altLang="en-US" sz="1800" dirty="0"/>
              <a:t>环境模型：</a:t>
            </a:r>
            <a:r>
              <a:rPr lang="zh-CN" altLang="zh-CN" sz="1800" b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探索频域特征、序列建模与条件调制</a:t>
            </a:r>
            <a:r>
              <a:rPr lang="zh-CN" altLang="zh-CN" dirty="0">
                <a:effectLst/>
              </a:rPr>
              <a:t> </a:t>
            </a:r>
            <a:endParaRPr lang="en-US" altLang="zh-CN" dirty="0">
              <a:effectLst/>
            </a:endParaRPr>
          </a:p>
          <a:p>
            <a:r>
              <a:rPr lang="en" altLang="zh-CN" sz="1200" dirty="0"/>
              <a:t>Uplift</a:t>
            </a:r>
            <a:r>
              <a:rPr lang="zh-CN" altLang="en-US" sz="1200" dirty="0">
                <a:effectLst/>
              </a:rPr>
              <a:t>：</a:t>
            </a:r>
            <a:r>
              <a:rPr lang="en-US" altLang="zh-CN" sz="1200" dirty="0">
                <a:effectLst/>
              </a:rPr>
              <a:t>Emb</a:t>
            </a:r>
            <a:r>
              <a:rPr lang="zh-CN" altLang="en-US" sz="1200" dirty="0">
                <a:effectLst/>
              </a:rPr>
              <a:t>交叉、样本调权，</a:t>
            </a:r>
            <a:r>
              <a:rPr lang="en-US" altLang="zh-CN" sz="1200" dirty="0">
                <a:effectLst/>
              </a:rPr>
              <a:t>label</a:t>
            </a:r>
            <a:r>
              <a:rPr lang="zh-CN" altLang="en-US" sz="1200" dirty="0">
                <a:effectLst/>
              </a:rPr>
              <a:t> </a:t>
            </a:r>
            <a:r>
              <a:rPr lang="en-US" altLang="zh-CN" sz="1200" dirty="0">
                <a:effectLst/>
              </a:rPr>
              <a:t>smoothing</a:t>
            </a:r>
            <a:r>
              <a:rPr lang="zh-CN" altLang="en-US" sz="1200" dirty="0">
                <a:effectLst/>
              </a:rPr>
              <a:t>、因果卷积等</a:t>
            </a:r>
            <a:endParaRPr lang="zh-CN" altLang="e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527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工业界常用的范式是“</a:t>
            </a:r>
            <a:r>
              <a:rPr lang="en-US" altLang="zh-CN" sz="1800" dirty="0" err="1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先预测再优化</a:t>
            </a:r>
            <a:r>
              <a:rPr lang="en-US" altLang="zh-CN" sz="1800" dirty="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”（PTO）：</a:t>
            </a:r>
            <a:r>
              <a:rPr lang="en-US" altLang="zh-CN" sz="1800" dirty="0" err="1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先拟合响应模型，再搜索使预测结果最大的动作</a:t>
            </a:r>
            <a:r>
              <a:rPr lang="en-US" altLang="zh-CN" sz="1800" dirty="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 [9,27]。</a:t>
            </a:r>
            <a:r>
              <a:rPr lang="en-US" altLang="zh-CN" sz="1800" dirty="0" err="1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但</a:t>
            </a:r>
            <a:r>
              <a:rPr lang="en-US" altLang="zh-CN" sz="1800" dirty="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 PTO </a:t>
            </a:r>
            <a:r>
              <a:rPr lang="en-US" altLang="zh-CN" sz="1800" dirty="0" err="1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对多渠道</a:t>
            </a:r>
            <a:r>
              <a:rPr lang="en-US" altLang="zh-CN" sz="1800" dirty="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 Uplift 学习存在三类根本性不足。第一，逐渠道模型忽略跨渠道交互，各自独立的响应曲线无法恢复联合响应面的最优点。第二，即使采用联合黑盒模型，在全局优化下也不安全，因为优化器会利用无数据支持区域中的外推误差，产生过于激进的策略。第三，也是最关键的一点，预测准确并不等价于决策质量。标准损失（如 </a:t>
            </a:r>
            <a:r>
              <a:rPr lang="en-US" altLang="zh-CN" sz="1800" dirty="0" err="1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MSE）优化的是平均预测误差，而部署阶段依赖的是反事实排序</a:t>
            </a:r>
            <a:r>
              <a:rPr lang="en-US" altLang="zh-CN" sz="1800" dirty="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 [6]。</a:t>
            </a:r>
            <a:r>
              <a:rPr lang="en-US" altLang="zh-CN" sz="1800" dirty="0" err="1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高</a:t>
            </a:r>
            <a:r>
              <a:rPr lang="en-US" altLang="zh-CN" sz="1800" dirty="0">
                <a:effectLst/>
                <a:latin typeface="Noto Serif CJK SC"/>
                <a:ea typeface="Noto Serif CJK SC"/>
                <a:cs typeface="Times New Roman" panose="02020603050405020304" pitchFamily="18" charset="0"/>
              </a:rPr>
              <a:t> Uplift 区域中的微小预测误差会被优化器显著放大，最终损害决策。观测混杂会进一步加剧这一脆弱性：历史分配由既有业务策略驱动，使处理分配与商品状态系统性纠缠。因此，模型即便具有较好的事实预测能力，也可能得到有偏的因果梯度，从而使下游优化失效。</a:t>
            </a:r>
            <a:endParaRPr lang="zh-CN" altLang="zh-CN" sz="1800" dirty="0">
              <a:effectLst/>
              <a:latin typeface="Noto Serif CJK SC"/>
              <a:ea typeface="Noto Serif CJK SC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187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具体做法我分成三步。第一步是 </a:t>
            </a:r>
            <a:r>
              <a:rPr lang="en" altLang="zh-CN" b="1" dirty="0"/>
              <a:t>Orthogonal Teacher</a:t>
            </a:r>
            <a:r>
              <a:rPr lang="zh-CN" altLang="en" dirty="0"/>
              <a:t>：</a:t>
            </a:r>
            <a:r>
              <a:rPr lang="zh-CN" altLang="en-US" dirty="0"/>
              <a:t>基于近期日志分别拟合基础销量和历史投放倾向，把 </a:t>
            </a:r>
            <a:r>
              <a:rPr lang="en" altLang="zh-CN" dirty="0"/>
              <a:t>Outcome </a:t>
            </a:r>
            <a:r>
              <a:rPr lang="zh-CN" altLang="en-US" dirty="0"/>
              <a:t>和 </a:t>
            </a:r>
            <a:r>
              <a:rPr lang="en" altLang="zh-CN" dirty="0"/>
              <a:t>Treatment </a:t>
            </a:r>
            <a:r>
              <a:rPr lang="zh-CN" altLang="en-US" dirty="0"/>
              <a:t>都做残差化，去掉商品状态和旧策略带来的混杂，再在固定预算单纯形上学习“从渠道 </a:t>
            </a:r>
            <a:r>
              <a:rPr lang="en" altLang="zh-CN" dirty="0"/>
              <a:t>A </a:t>
            </a:r>
            <a:r>
              <a:rPr lang="zh-CN" altLang="en-US" dirty="0"/>
              <a:t>挪一点预算到渠道 </a:t>
            </a:r>
            <a:r>
              <a:rPr lang="en" altLang="zh-CN" dirty="0"/>
              <a:t>B”</a:t>
            </a:r>
            <a:r>
              <a:rPr lang="zh-CN" altLang="en-US" dirty="0"/>
              <a:t>对应的</a:t>
            </a:r>
            <a:r>
              <a:rPr lang="zh-CN" altLang="en-US" b="1" dirty="0"/>
              <a:t>局部因果梯度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第二步是 </a:t>
            </a:r>
            <a:r>
              <a:rPr lang="en" altLang="zh-CN" b="1" dirty="0"/>
              <a:t>Potential Student</a:t>
            </a:r>
            <a:r>
              <a:rPr lang="zh-CN" altLang="en" dirty="0"/>
              <a:t>：</a:t>
            </a:r>
            <a:r>
              <a:rPr lang="en" altLang="zh-CN" dirty="0"/>
              <a:t>Teacher </a:t>
            </a:r>
            <a:r>
              <a:rPr lang="zh-CN" altLang="en-US" dirty="0"/>
              <a:t>的局部梯度会比较抖，所以我用 </a:t>
            </a:r>
            <a:r>
              <a:rPr lang="en" altLang="zh-CN" dirty="0"/>
              <a:t>Replay Buffer </a:t>
            </a:r>
            <a:r>
              <a:rPr lang="zh-CN" altLang="en-US" dirty="0"/>
              <a:t>累积不同时间窗口的梯度和有限差分信号，通过 </a:t>
            </a:r>
            <a:r>
              <a:rPr lang="en" altLang="zh-CN" b="1" dirty="0"/>
              <a:t>Jacobian Matching + EMA</a:t>
            </a:r>
            <a:r>
              <a:rPr lang="en" altLang="zh-CN" dirty="0"/>
              <a:t> </a:t>
            </a:r>
            <a:r>
              <a:rPr lang="zh-CN" altLang="en-US" dirty="0"/>
              <a:t>蒸馏到一个标量 </a:t>
            </a:r>
            <a:r>
              <a:rPr lang="en" altLang="zh-CN" dirty="0"/>
              <a:t>Potential Function </a:t>
            </a:r>
            <a:r>
              <a:rPr lang="zh-CN" altLang="en-US" dirty="0"/>
              <a:t>上。这样 </a:t>
            </a:r>
            <a:r>
              <a:rPr lang="en" altLang="zh-CN" dirty="0"/>
              <a:t>Student </a:t>
            </a:r>
            <a:r>
              <a:rPr lang="zh-CN" altLang="en-US" dirty="0"/>
              <a:t>学到的是一个稳定、可积的边际收益场，可以保证多步预算调整前后一致。</a:t>
            </a:r>
          </a:p>
          <a:p>
            <a:r>
              <a:rPr lang="zh-CN" altLang="en-US" dirty="0"/>
              <a:t>最后在决策阶段，不再做全局 </a:t>
            </a:r>
            <a:r>
              <a:rPr lang="en" altLang="zh-CN" dirty="0"/>
              <a:t>PTO</a:t>
            </a:r>
            <a:r>
              <a:rPr lang="zh-CN" altLang="en" dirty="0"/>
              <a:t>，</a:t>
            </a:r>
            <a:r>
              <a:rPr lang="zh-CN" altLang="en-US" dirty="0"/>
              <a:t>而是从当前预算出发枚举局部重分配方向，根据 </a:t>
            </a:r>
            <a:r>
              <a:rPr lang="en" altLang="zh-CN" dirty="0"/>
              <a:t>Student </a:t>
            </a:r>
            <a:r>
              <a:rPr lang="zh-CN" altLang="en-US" dirty="0"/>
              <a:t>预测收益，同时扣除</a:t>
            </a:r>
            <a:r>
              <a:rPr lang="zh-CN" altLang="en-US" b="1" dirty="0"/>
              <a:t>不确定性和 </a:t>
            </a:r>
            <a:r>
              <a:rPr lang="en" altLang="zh-CN" b="1" dirty="0"/>
              <a:t>Support </a:t>
            </a:r>
            <a:r>
              <a:rPr lang="zh-CN" altLang="en-US" b="1" dirty="0"/>
              <a:t>惩罚</a:t>
            </a:r>
            <a:r>
              <a:rPr lang="zh-CN" altLang="en-US" dirty="0"/>
              <a:t>；只有收益超过阈值才执行下一步，否则停止。这样就能在历史数据有支撑的区域内逐步优化，避免模型跑到 </a:t>
            </a:r>
            <a:r>
              <a:rPr lang="en" altLang="zh-CN" dirty="0"/>
              <a:t>OOD </a:t>
            </a:r>
            <a:r>
              <a:rPr lang="zh-CN" altLang="en-US" dirty="0"/>
              <a:t>区域产生激进决策。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099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/>
              <a:t>PTO</a:t>
            </a:r>
            <a:r>
              <a:rPr lang="zh-CN" altLang="en-US" dirty="0"/>
              <a:t>：</a:t>
            </a:r>
            <a:r>
              <a:rPr lang="en" altLang="zh-CN" b="1" dirty="0"/>
              <a:t>Predict-then-Optimize</a:t>
            </a:r>
            <a:r>
              <a:rPr lang="zh-CN" altLang="en" b="1" dirty="0"/>
              <a:t>（</a:t>
            </a:r>
            <a:r>
              <a:rPr lang="zh-CN" altLang="en-US" b="1" dirty="0"/>
              <a:t>先预测、再优化）</a:t>
            </a:r>
            <a:endParaRPr lang="en-US" altLang="zh-CN" b="1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298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860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937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965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onlinelibrary.wiley.com/doi/epdf/10.1155/stc/6629515" TargetMode="External"/><Relationship Id="rId3" Type="http://schemas.openxmlformats.org/officeDocument/2006/relationships/tags" Target="../tags/tag65.xml"/><Relationship Id="rId7" Type="http://schemas.openxmlformats.org/officeDocument/2006/relationships/hyperlink" Target="https://arxiv.org/pdf/2602.11235v1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hyperlink" Target="https://ojs.aaai.org/index.php/AAAI/article/view/38591" TargetMode="Externa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9" Type="http://schemas.openxmlformats.org/officeDocument/2006/relationships/hyperlink" Target="https://openreview.net/forum?id=p2OC9yo5rV&amp;referrer=%5BAuthor%20Console%5D(%2Fgroup%3Fid%3DAAAI.org%2F2027%2FConference%2FAuthors%23your-submissions)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image" Target="../media/image13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18.png"/><Relationship Id="rId5" Type="http://schemas.openxmlformats.org/officeDocument/2006/relationships/tags" Target="../tags/tag105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1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review.net/forum?id=p2OC9yo5rV&amp;referrer=%5BAuthor%20Console%5D(%2Fgroup%3Fid%3DAAAI.org%2F2027%2FConference%2FAuthors%23your-submissions)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onlinelibrary.wiley.com/doi/epdf/10.1155/stc/6629515" TargetMode="Externa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hyperlink" Target="https://arxiv.org/pdf/2602.11235v1" TargetMode="External"/><Relationship Id="rId5" Type="http://schemas.openxmlformats.org/officeDocument/2006/relationships/hyperlink" Target="https://ojs.aaai.org/index.php/AAAI/article/view/38591" TargetMode="External"/><Relationship Id="rId4" Type="http://schemas.openxmlformats.org/officeDocument/2006/relationships/notesSlide" Target="../notesSlides/notesSlide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5" Type="http://schemas.openxmlformats.org/officeDocument/2006/relationships/image" Target="../media/image37.png"/><Relationship Id="rId4" Type="http://schemas.openxmlformats.org/officeDocument/2006/relationships/notesSlide" Target="../notesSlides/notesSlide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400" y="334080"/>
            <a:ext cx="10969200" cy="705600"/>
          </a:xfrm>
        </p:spPr>
        <p:txBody>
          <a:bodyPr/>
          <a:lstStyle/>
          <a:p>
            <a:r>
              <a:rPr lang="zh-CN" altLang="en-US" dirty="0"/>
              <a:t>朱文涛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1400" y="1049400"/>
            <a:ext cx="11580600" cy="47592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教育背景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2024</a:t>
            </a:r>
            <a:r>
              <a:rPr lang="zh-CN" altLang="zh-CN" dirty="0">
                <a:solidFill>
                  <a:schemeClr val="tx1"/>
                </a:solidFill>
              </a:rPr>
              <a:t>～至今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北京航空航天大学</a:t>
            </a:r>
            <a:r>
              <a:rPr lang="zh-CN" altLang="en-US" dirty="0">
                <a:solidFill>
                  <a:schemeClr val="tx1"/>
                </a:solidFill>
              </a:rPr>
              <a:t>，硕士，</a:t>
            </a:r>
            <a:r>
              <a:rPr lang="zh-CN" altLang="zh-CN" dirty="0">
                <a:solidFill>
                  <a:schemeClr val="tx1"/>
                </a:solidFill>
              </a:rPr>
              <a:t>计算机学院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zh-CN" dirty="0">
                <a:solidFill>
                  <a:schemeClr val="tx1"/>
                </a:solidFill>
              </a:rPr>
              <a:t>计算机技术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effectLst/>
                <a:ea typeface="微软雅黑" panose="020B0503020204020204" pitchFamily="34" charset="-122"/>
              </a:rPr>
              <a:t>GPA</a:t>
            </a:r>
            <a:r>
              <a:rPr lang="zh-CN" altLang="zh-CN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</a:rPr>
              <a:t>为</a:t>
            </a:r>
            <a:r>
              <a:rPr lang="en-US" altLang="zh-CN" b="1" dirty="0">
                <a:solidFill>
                  <a:schemeClr val="tx1"/>
                </a:solidFill>
                <a:effectLst/>
                <a:ea typeface="微软雅黑" panose="020B0503020204020204" pitchFamily="34" charset="-122"/>
              </a:rPr>
              <a:t>3.8/4.0</a:t>
            </a:r>
            <a:r>
              <a:rPr lang="zh-CN" altLang="en-US" b="1" dirty="0">
                <a:solidFill>
                  <a:schemeClr val="tx1"/>
                </a:solidFill>
              </a:rPr>
              <a:t>，前</a:t>
            </a:r>
            <a:r>
              <a:rPr lang="en-US" altLang="zh-CN" b="1" dirty="0">
                <a:solidFill>
                  <a:schemeClr val="tx1"/>
                </a:solidFill>
              </a:rPr>
              <a:t>10%</a:t>
            </a:r>
            <a:r>
              <a:rPr lang="zh-CN" altLang="zh-CN" b="1" dirty="0">
                <a:solidFill>
                  <a:schemeClr val="tx1"/>
                </a:solidFill>
                <a:effectLst/>
              </a:rPr>
              <a:t> </a:t>
            </a:r>
            <a:endParaRPr lang="en-US" altLang="zh-CN" b="1" dirty="0">
              <a:solidFill>
                <a:schemeClr val="tx1"/>
              </a:solidFill>
              <a:effectLst/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2020</a:t>
            </a:r>
            <a:r>
              <a:rPr lang="zh-CN" altLang="en-US" dirty="0">
                <a:solidFill>
                  <a:schemeClr val="tx1"/>
                </a:solidFill>
              </a:rPr>
              <a:t>～</a:t>
            </a:r>
            <a:r>
              <a:rPr lang="en-US" altLang="zh-CN" dirty="0">
                <a:solidFill>
                  <a:schemeClr val="tx1"/>
                </a:solidFill>
              </a:rPr>
              <a:t>2024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北京航空航天大学</a:t>
            </a:r>
            <a:r>
              <a:rPr lang="zh-CN" altLang="en-US" dirty="0">
                <a:solidFill>
                  <a:schemeClr val="tx1"/>
                </a:solidFill>
              </a:rPr>
              <a:t>，本科，</a:t>
            </a:r>
            <a:r>
              <a:rPr lang="zh-CN" altLang="zh-CN" dirty="0">
                <a:solidFill>
                  <a:schemeClr val="tx1"/>
                </a:solidFill>
              </a:rPr>
              <a:t>计算机学院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zh-CN" dirty="0">
                <a:solidFill>
                  <a:schemeClr val="tx1"/>
                </a:solidFill>
              </a:rPr>
              <a:t>计算机科学与技术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b="1" dirty="0">
                <a:solidFill>
                  <a:schemeClr val="tx1"/>
                </a:solidFill>
              </a:rPr>
              <a:t>GPA</a:t>
            </a:r>
            <a:r>
              <a:rPr lang="zh-CN" altLang="zh-CN" b="1" dirty="0">
                <a:solidFill>
                  <a:schemeClr val="tx1"/>
                </a:solidFill>
              </a:rPr>
              <a:t>为</a:t>
            </a:r>
            <a:r>
              <a:rPr lang="en-US" altLang="zh-CN" b="1" dirty="0">
                <a:solidFill>
                  <a:schemeClr val="tx1"/>
                </a:solidFill>
              </a:rPr>
              <a:t>3.87/4.00</a:t>
            </a:r>
            <a:r>
              <a:rPr lang="zh-CN" altLang="en-US" b="1" dirty="0">
                <a:solidFill>
                  <a:schemeClr val="tx1"/>
                </a:solidFill>
              </a:rPr>
              <a:t>，</a:t>
            </a:r>
            <a:r>
              <a:rPr lang="zh-CN" altLang="zh-CN" b="1" dirty="0">
                <a:solidFill>
                  <a:schemeClr val="tx1"/>
                </a:solidFill>
              </a:rPr>
              <a:t>前</a:t>
            </a:r>
            <a:r>
              <a:rPr lang="en-US" altLang="zh-CN" b="1" dirty="0">
                <a:solidFill>
                  <a:schemeClr val="tx1"/>
                </a:solidFill>
              </a:rPr>
              <a:t>10%</a:t>
            </a:r>
            <a:r>
              <a:rPr lang="zh-CN" altLang="en-US" b="1" dirty="0">
                <a:solidFill>
                  <a:schemeClr val="tx1"/>
                </a:solidFill>
              </a:rPr>
              <a:t>，推免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实习经历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2025.04</a:t>
            </a:r>
            <a:r>
              <a:rPr lang="zh-CN" altLang="zh-CN" dirty="0">
                <a:solidFill>
                  <a:schemeClr val="tx1"/>
                </a:solidFill>
              </a:rPr>
              <a:t>～</a:t>
            </a:r>
            <a:r>
              <a:rPr lang="en-US" altLang="zh-CN" dirty="0">
                <a:solidFill>
                  <a:schemeClr val="tx1"/>
                </a:solidFill>
              </a:rPr>
              <a:t>2025.10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美团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主站搜推算法组</a:t>
            </a:r>
            <a:r>
              <a:rPr lang="zh-CN" altLang="en-US" dirty="0">
                <a:solidFill>
                  <a:schemeClr val="tx1"/>
                </a:solidFill>
              </a:rPr>
              <a:t>，主要做</a:t>
            </a:r>
            <a:r>
              <a:rPr lang="en-US" altLang="zh-CN" b="1" dirty="0">
                <a:solidFill>
                  <a:schemeClr val="tx1"/>
                </a:solidFill>
              </a:rPr>
              <a:t>MTGR</a:t>
            </a:r>
            <a:r>
              <a:rPr lang="zh-CN" altLang="en-US" b="1" dirty="0">
                <a:solidFill>
                  <a:schemeClr val="tx1"/>
                </a:solidFill>
              </a:rPr>
              <a:t>高效</a:t>
            </a:r>
            <a:r>
              <a:rPr lang="en-US" altLang="zh-CN" b="1" dirty="0">
                <a:solidFill>
                  <a:schemeClr val="tx1"/>
                </a:solidFill>
              </a:rPr>
              <a:t>Scaling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zh-CN" altLang="en-US" b="1" dirty="0">
                <a:solidFill>
                  <a:schemeClr val="tx1"/>
                </a:solidFill>
              </a:rPr>
              <a:t>统一模型</a:t>
            </a:r>
            <a:r>
              <a:rPr lang="en-US" altLang="zh-CN" b="1" dirty="0">
                <a:solidFill>
                  <a:schemeClr val="tx1"/>
                </a:solidFill>
              </a:rPr>
              <a:t>MTFM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2025.10</a:t>
            </a:r>
            <a:r>
              <a:rPr lang="zh-CN" altLang="zh-CN" dirty="0">
                <a:solidFill>
                  <a:schemeClr val="tx1"/>
                </a:solidFill>
              </a:rPr>
              <a:t>～</a:t>
            </a:r>
            <a:r>
              <a:rPr lang="en-US" altLang="zh-CN" dirty="0">
                <a:solidFill>
                  <a:schemeClr val="tx1"/>
                </a:solidFill>
              </a:rPr>
              <a:t>2026.01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快手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直播模型组</a:t>
            </a:r>
            <a:r>
              <a:rPr lang="zh-CN" altLang="en-US" dirty="0">
                <a:solidFill>
                  <a:schemeClr val="tx1"/>
                </a:solidFill>
              </a:rPr>
              <a:t>，主要做</a:t>
            </a:r>
            <a:r>
              <a:rPr lang="en-US" altLang="zh-CN" b="1" dirty="0">
                <a:solidFill>
                  <a:schemeClr val="tx1"/>
                </a:solidFill>
              </a:rPr>
              <a:t>Onelive</a:t>
            </a:r>
            <a:r>
              <a:rPr lang="zh-CN" altLang="en-US" b="1" dirty="0">
                <a:solidFill>
                  <a:schemeClr val="tx1"/>
                </a:solidFill>
              </a:rPr>
              <a:t>模型构建和优化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zh-CN" altLang="en-US" b="1" dirty="0">
                <a:solidFill>
                  <a:schemeClr val="tx1"/>
                </a:solidFill>
              </a:rPr>
              <a:t>召粗一体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2026.02</a:t>
            </a:r>
            <a:r>
              <a:rPr lang="zh-CN" altLang="zh-CN" dirty="0">
                <a:solidFill>
                  <a:schemeClr val="tx1"/>
                </a:solidFill>
              </a:rPr>
              <a:t>～</a:t>
            </a:r>
            <a:r>
              <a:rPr lang="en-US" altLang="zh-CN" dirty="0">
                <a:solidFill>
                  <a:schemeClr val="tx1"/>
                </a:solidFill>
              </a:rPr>
              <a:t>2026.05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字节跳动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TikTok Search</a:t>
            </a:r>
            <a:r>
              <a:rPr lang="zh-CN" altLang="en-US" dirty="0">
                <a:solidFill>
                  <a:schemeClr val="tx1"/>
                </a:solidFill>
              </a:rPr>
              <a:t>，主要做</a:t>
            </a:r>
            <a:r>
              <a:rPr lang="zh-CN" altLang="en-US" b="1" dirty="0">
                <a:solidFill>
                  <a:schemeClr val="tx1"/>
                </a:solidFill>
              </a:rPr>
              <a:t>异形卡个性化召回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zh-CN" altLang="en-US" b="1" dirty="0">
                <a:solidFill>
                  <a:schemeClr val="tx1"/>
                </a:solidFill>
              </a:rPr>
              <a:t>模型</a:t>
            </a:r>
            <a:r>
              <a:rPr lang="en-US" altLang="zh-CN" b="1" dirty="0">
                <a:solidFill>
                  <a:schemeClr val="tx1"/>
                </a:solidFill>
              </a:rPr>
              <a:t>OneTrans</a:t>
            </a:r>
            <a:r>
              <a:rPr lang="zh-CN" altLang="en-US" b="1" dirty="0">
                <a:solidFill>
                  <a:schemeClr val="tx1"/>
                </a:solidFill>
              </a:rPr>
              <a:t>改造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2025.06</a:t>
            </a:r>
            <a:r>
              <a:rPr lang="zh-CN" altLang="zh-CN" dirty="0">
                <a:solidFill>
                  <a:schemeClr val="tx1"/>
                </a:solidFill>
              </a:rPr>
              <a:t>～至今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阿里妈妈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营销托管</a:t>
            </a:r>
            <a:r>
              <a:rPr lang="zh-CN" altLang="en-US" dirty="0">
                <a:solidFill>
                  <a:schemeClr val="tx1"/>
                </a:solidFill>
              </a:rPr>
              <a:t>，主要做</a:t>
            </a:r>
            <a:r>
              <a:rPr lang="zh-CN" altLang="en-US" b="1" dirty="0">
                <a:solidFill>
                  <a:schemeClr val="tx1"/>
                </a:solidFill>
              </a:rPr>
              <a:t>归因引导的</a:t>
            </a:r>
            <a:r>
              <a:rPr lang="en-US" altLang="zh-CN" b="1" dirty="0">
                <a:solidFill>
                  <a:schemeClr val="tx1"/>
                </a:solidFill>
              </a:rPr>
              <a:t>Auto-research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b="1" dirty="0">
                <a:solidFill>
                  <a:schemeClr val="tx1"/>
                </a:solidFill>
              </a:rPr>
              <a:t>Uplift</a:t>
            </a:r>
            <a:r>
              <a:rPr lang="zh-CN" altLang="en-US" b="1" dirty="0">
                <a:solidFill>
                  <a:schemeClr val="tx1"/>
                </a:solidFill>
              </a:rPr>
              <a:t>模型联合建模</a:t>
            </a:r>
            <a:r>
              <a:rPr lang="en-US" altLang="zh-CN" dirty="0">
                <a:solidFill>
                  <a:schemeClr val="tx1"/>
                </a:solidFill>
              </a:rPr>
              <a:t>	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学术研究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zh-CN" sz="1300" i="0" dirty="0">
                <a:effectLst/>
                <a:latin typeface="Noto Sans" panose="020B0604020202020204" pitchFamily="34" charset="0"/>
                <a:hlinkClick r:id="rId6"/>
              </a:rPr>
              <a:t>UNO! UNified Offline Training Paradigm for Learning Path Recommendation</a:t>
            </a:r>
            <a:r>
              <a:rPr lang="zh-CN" altLang="en-US" sz="13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，</a:t>
            </a:r>
            <a:r>
              <a:rPr lang="en-US" altLang="zh-CN" sz="13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AAAI</a:t>
            </a:r>
            <a:r>
              <a:rPr lang="zh-CN" altLang="en-US" sz="13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 </a:t>
            </a:r>
            <a:r>
              <a:rPr lang="en-US" altLang="zh-CN" sz="13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Oral</a:t>
            </a:r>
            <a:r>
              <a:rPr lang="zh-CN" altLang="en-US" sz="13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，共一</a:t>
            </a:r>
            <a:endParaRPr lang="en" altLang="zh-CN" sz="1300" i="0" dirty="0">
              <a:solidFill>
                <a:schemeClr val="tx1"/>
              </a:solidFill>
              <a:effectLst/>
              <a:latin typeface="Noto Sans" panose="020B0604020202020204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zh-CN" sz="1300" dirty="0">
                <a:hlinkClick r:id="rId7"/>
              </a:rPr>
              <a:t>MTFM: A Scalable and Alignment-free Foundation Model for Industrial Recommendation in</a:t>
            </a:r>
            <a:r>
              <a:rPr lang="zh-CN" altLang="en-US" sz="1300" dirty="0">
                <a:hlinkClick r:id="rId7"/>
              </a:rPr>
              <a:t> </a:t>
            </a:r>
            <a:r>
              <a:rPr lang="en" altLang="zh-CN" sz="1300" dirty="0">
                <a:hlinkClick r:id="rId7"/>
              </a:rPr>
              <a:t>Meituan</a:t>
            </a:r>
            <a:r>
              <a:rPr lang="zh-CN" altLang="en-US" sz="1300" dirty="0">
                <a:solidFill>
                  <a:schemeClr val="tx1"/>
                </a:solidFill>
              </a:rPr>
              <a:t>，</a:t>
            </a:r>
            <a:r>
              <a:rPr lang="en-US" altLang="zh-CN" sz="1300" dirty="0">
                <a:solidFill>
                  <a:schemeClr val="tx1"/>
                </a:solidFill>
              </a:rPr>
              <a:t>Tech</a:t>
            </a:r>
            <a:r>
              <a:rPr lang="zh-CN" altLang="en-US" sz="1300" dirty="0">
                <a:solidFill>
                  <a:schemeClr val="tx1"/>
                </a:solidFill>
              </a:rPr>
              <a:t> </a:t>
            </a:r>
            <a:r>
              <a:rPr lang="en-US" altLang="zh-CN" sz="1300" dirty="0">
                <a:solidFill>
                  <a:schemeClr val="tx1"/>
                </a:solidFill>
              </a:rPr>
              <a:t>Report</a:t>
            </a:r>
            <a:endParaRPr lang="en" altLang="zh-CN" sz="1300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zh-CN" sz="1300" i="0" dirty="0">
                <a:effectLst/>
                <a:latin typeface="Noto Sans" panose="020B0604020202020204" pitchFamily="34" charset="0"/>
                <a:hlinkClick r:id="rId8"/>
              </a:rPr>
              <a:t>A Conditional Diffusion-Based Method for Missing DataImputation in Tunnel Monitoring</a:t>
            </a:r>
            <a:r>
              <a:rPr lang="zh-CN" altLang="en-US" sz="1300" dirty="0">
                <a:solidFill>
                  <a:schemeClr val="tx1"/>
                </a:solidFill>
                <a:latin typeface="Noto Sans" panose="020B0604020202020204" pitchFamily="34" charset="0"/>
              </a:rPr>
              <a:t>，</a:t>
            </a:r>
            <a:r>
              <a:rPr lang="en-US" altLang="zh-CN" sz="1300" dirty="0">
                <a:solidFill>
                  <a:schemeClr val="tx1"/>
                </a:solidFill>
                <a:latin typeface="Noto Sans" panose="020B0604020202020204" pitchFamily="34" charset="0"/>
              </a:rPr>
              <a:t>Q1</a:t>
            </a:r>
            <a:r>
              <a:rPr lang="zh-CN" altLang="en-US" sz="1300" dirty="0">
                <a:solidFill>
                  <a:schemeClr val="tx1"/>
                </a:solidFill>
                <a:latin typeface="Noto Sans" panose="020B0604020202020204" pitchFamily="34" charset="0"/>
              </a:rPr>
              <a:t>，一作</a:t>
            </a:r>
            <a:endParaRPr lang="en" altLang="zh-CN" sz="1300" i="0" dirty="0">
              <a:solidFill>
                <a:schemeClr val="tx1"/>
              </a:solidFill>
              <a:effectLst/>
              <a:latin typeface="Noto Sans" panose="020B0604020202020204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zh-CN" sz="1300" u="none" strike="noStrike" dirty="0">
                <a:solidFill>
                  <a:srgbClr val="3E6775"/>
                </a:solidFill>
                <a:effectLst/>
                <a:latin typeface="inherit"/>
                <a:hlinkClick r:id="rId9"/>
              </a:rPr>
              <a:t>AutoAttribRec: Attribution-Guided Self-Evolving Research for Recommender Systems</a:t>
            </a:r>
            <a:r>
              <a:rPr lang="zh-CN" altLang="en-US" sz="1300" u="none" strike="noStrike" dirty="0">
                <a:solidFill>
                  <a:schemeClr val="tx1"/>
                </a:solidFill>
                <a:effectLst/>
                <a:latin typeface="inherit"/>
              </a:rPr>
              <a:t>，</a:t>
            </a:r>
            <a:r>
              <a:rPr lang="en-US" altLang="zh-CN" sz="1300" u="none" strike="noStrike" dirty="0">
                <a:solidFill>
                  <a:schemeClr val="tx1"/>
                </a:solidFill>
                <a:effectLst/>
                <a:latin typeface="inherit"/>
              </a:rPr>
              <a:t>AAAI</a:t>
            </a:r>
            <a:r>
              <a:rPr lang="zh-CN" altLang="en-US" sz="1300" dirty="0">
                <a:solidFill>
                  <a:schemeClr val="tx1"/>
                </a:solidFill>
                <a:latin typeface="inherit"/>
              </a:rPr>
              <a:t>在</a:t>
            </a:r>
            <a:r>
              <a:rPr lang="zh-CN" altLang="en-US" sz="1300" u="none" strike="noStrike" dirty="0">
                <a:solidFill>
                  <a:schemeClr val="tx1"/>
                </a:solidFill>
                <a:effectLst/>
                <a:latin typeface="inherit"/>
              </a:rPr>
              <a:t>投，一作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400" y="334080"/>
            <a:ext cx="10969200" cy="705600"/>
          </a:xfrm>
        </p:spPr>
        <p:txBody>
          <a:bodyPr/>
          <a:lstStyle/>
          <a:p>
            <a:r>
              <a:rPr lang="zh-CN" altLang="en-US" dirty="0"/>
              <a:t>美团：</a:t>
            </a:r>
            <a:r>
              <a:rPr lang="en-US" altLang="zh-CN" dirty="0"/>
              <a:t>MTFM</a:t>
            </a:r>
            <a:r>
              <a:rPr lang="zh-CN" altLang="en-US" dirty="0"/>
              <a:t>、</a:t>
            </a:r>
            <a:r>
              <a:rPr lang="en-US" altLang="zh-CN" dirty="0"/>
              <a:t>MTGR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1400" y="1049400"/>
            <a:ext cx="11299246" cy="4759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关键问题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多场景业务繁多，模型多且杂，但是外卖业务有统一兴趣，存在资源的浪费</a:t>
            </a:r>
            <a:endParaRPr lang="en-US" altLang="zh-CN" dirty="0">
              <a:solidFill>
                <a:schemeClr val="tx1"/>
              </a:solidFill>
              <a:effectLst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精排模型</a:t>
            </a:r>
            <a:r>
              <a:rPr lang="en-US" altLang="zh-CN" dirty="0">
                <a:solidFill>
                  <a:schemeClr val="tx1"/>
                </a:solidFill>
              </a:rPr>
              <a:t>Scaling</a:t>
            </a:r>
            <a:r>
              <a:rPr lang="zh-CN" altLang="en-US" dirty="0">
                <a:solidFill>
                  <a:schemeClr val="tx1"/>
                </a:solidFill>
              </a:rPr>
              <a:t>带来的训推计算量的快速增长</a:t>
            </a:r>
            <a:endParaRPr lang="en-US" altLang="zh-CN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解决手段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构建多业务统一样本体系，实现天级别</a:t>
            </a:r>
            <a:r>
              <a:rPr lang="en-US" altLang="zh-CN" dirty="0">
                <a:solidFill>
                  <a:schemeClr val="tx1"/>
                </a:solidFill>
              </a:rPr>
              <a:t>UG</a:t>
            </a:r>
            <a:r>
              <a:rPr lang="zh-CN" altLang="en-US" dirty="0">
                <a:solidFill>
                  <a:schemeClr val="tx1"/>
                </a:solidFill>
              </a:rPr>
              <a:t>分离，支持高效</a:t>
            </a:r>
            <a:r>
              <a:rPr lang="en-US" altLang="zh-CN" dirty="0">
                <a:solidFill>
                  <a:schemeClr val="tx1"/>
                </a:solidFill>
              </a:rPr>
              <a:t>Scaling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设计动态混合掩码，构建</a:t>
            </a:r>
            <a:r>
              <a:rPr lang="en-US" altLang="zh-CN" dirty="0">
                <a:solidFill>
                  <a:schemeClr val="tx1"/>
                </a:solidFill>
              </a:rPr>
              <a:t>MTFM</a:t>
            </a:r>
            <a:r>
              <a:rPr lang="zh-CN" altLang="en-US" dirty="0">
                <a:solidFill>
                  <a:schemeClr val="tx1"/>
                </a:solidFill>
              </a:rPr>
              <a:t>多外卖场景统一精排模型，实现多场景、多序列、多目标的统一建模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设计</a:t>
            </a:r>
            <a:r>
              <a:rPr lang="en-US" altLang="zh-CN" dirty="0">
                <a:solidFill>
                  <a:schemeClr val="tx1"/>
                </a:solidFill>
              </a:rPr>
              <a:t>HTA</a:t>
            </a:r>
            <a:r>
              <a:rPr lang="zh-CN" altLang="en-US" dirty="0">
                <a:solidFill>
                  <a:schemeClr val="tx1"/>
                </a:solidFill>
              </a:rPr>
              <a:t>范式、设计</a:t>
            </a:r>
            <a:r>
              <a:rPr lang="en-US" altLang="zh-CN" dirty="0">
                <a:solidFill>
                  <a:schemeClr val="tx1"/>
                </a:solidFill>
              </a:rPr>
              <a:t>Target Token Split up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SCTA</a:t>
            </a:r>
            <a:r>
              <a:rPr lang="zh-CN" altLang="en-US" dirty="0">
                <a:solidFill>
                  <a:schemeClr val="tx1"/>
                </a:solidFill>
              </a:rPr>
              <a:t>运算重排，并实现</a:t>
            </a:r>
            <a:r>
              <a:rPr lang="en-US" altLang="zh-CN" dirty="0">
                <a:solidFill>
                  <a:schemeClr val="tx1"/>
                </a:solidFill>
              </a:rPr>
              <a:t>Target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token</a:t>
            </a:r>
            <a:r>
              <a:rPr lang="zh-CN" altLang="en-US" dirty="0">
                <a:solidFill>
                  <a:schemeClr val="tx1"/>
                </a:solidFill>
              </a:rPr>
              <a:t>的高效</a:t>
            </a:r>
            <a:r>
              <a:rPr lang="en-US" altLang="zh-CN" dirty="0">
                <a:solidFill>
                  <a:schemeClr val="tx1"/>
                </a:solidFill>
              </a:rPr>
              <a:t>scaling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引入</a:t>
            </a:r>
            <a:r>
              <a:rPr lang="en-US" altLang="zh-CN" dirty="0">
                <a:solidFill>
                  <a:schemeClr val="tx1"/>
                </a:solidFill>
              </a:rPr>
              <a:t>EPNet</a:t>
            </a:r>
            <a:r>
              <a:rPr lang="zh-CN" altLang="en-US" dirty="0">
                <a:solidFill>
                  <a:schemeClr val="tx1"/>
                </a:solidFill>
              </a:rPr>
              <a:t>进行场建模，构建</a:t>
            </a:r>
            <a:r>
              <a:rPr lang="en-US" altLang="zh-CN" dirty="0">
                <a:solidFill>
                  <a:schemeClr val="tx1"/>
                </a:solidFill>
              </a:rPr>
              <a:t>Sparse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Moe</a:t>
            </a:r>
            <a:r>
              <a:rPr lang="zh-CN" altLang="en-US" dirty="0">
                <a:solidFill>
                  <a:schemeClr val="tx1"/>
                </a:solidFill>
              </a:rPr>
              <a:t>强化共性兴趣表征，有效解决跷跷板效应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910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59765" y="231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背景：</a:t>
            </a:r>
            <a:r>
              <a:rPr lang="en-US" altLang="zh-CN" dirty="0"/>
              <a:t>DLRM vs MTGR</a:t>
            </a:r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1276350" y="2564130"/>
            <a:ext cx="9638665" cy="3140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12520" y="11150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关键问题</a:t>
            </a:r>
            <a:r>
              <a:rPr lang="zh-CN" altLang="en-US" dirty="0"/>
              <a:t>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Scaling </a:t>
            </a:r>
            <a:r>
              <a:rPr lang="zh-CN" altLang="en-US" dirty="0"/>
              <a:t>效果接近天花板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MFU</a:t>
            </a:r>
            <a:r>
              <a:rPr lang="zh-CN" altLang="en-US" dirty="0"/>
              <a:t>利用率太低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在线时延无法接受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56810" y="5838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DLRM Model</a:t>
            </a:r>
          </a:p>
        </p:txBody>
      </p:sp>
      <p:sp>
        <p:nvSpPr>
          <p:cNvPr id="13" name="矩形 12"/>
          <p:cNvSpPr/>
          <p:nvPr/>
        </p:nvSpPr>
        <p:spPr>
          <a:xfrm>
            <a:off x="746125" y="66357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580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39770"/>
            <a:ext cx="10969200" cy="705600"/>
          </a:xfrm>
        </p:spPr>
        <p:txBody>
          <a:bodyPr/>
          <a:lstStyle/>
          <a:p>
            <a:r>
              <a:rPr lang="en-US" altLang="zh-CN" sz="1800"/>
              <a:t>MTGR-USER</a:t>
            </a:r>
            <a:r>
              <a:rPr lang="zh-CN" altLang="en-US" sz="1800"/>
              <a:t>粒度聚合样本</a:t>
            </a:r>
          </a:p>
        </p:txBody>
      </p:sp>
      <p:pic>
        <p:nvPicPr>
          <p:cNvPr id="4" name="图片 2" descr="IMG_256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22985" y="2585720"/>
            <a:ext cx="10287000" cy="3552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/>
        </p:nvSpPr>
        <p:spPr>
          <a:xfrm>
            <a:off x="708025" y="74676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36014" y="1231900"/>
            <a:ext cx="4642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b="1" dirty="0"/>
              <a:t>request</a:t>
            </a:r>
            <a:r>
              <a:rPr lang="zh-CN" altLang="en-US" b="1" dirty="0"/>
              <a:t>级样本</a:t>
            </a:r>
            <a:r>
              <a:rPr lang="en-US" altLang="zh-CN" b="1" dirty="0"/>
              <a:t>-&gt;</a:t>
            </a:r>
            <a:r>
              <a:rPr lang="zh-CN" altLang="en-US" b="1" dirty="0"/>
              <a:t>用户级样本：</a:t>
            </a:r>
            <a:endParaRPr lang="zh-CN" alt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样本存储空间降低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用户侧计算复用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21990"/>
            <a:ext cx="10969200" cy="705600"/>
          </a:xfrm>
        </p:spPr>
        <p:txBody>
          <a:bodyPr/>
          <a:lstStyle/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背景：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MTGR-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模型结构</a:t>
            </a:r>
          </a:p>
        </p:txBody>
      </p:sp>
      <p:pic>
        <p:nvPicPr>
          <p:cNvPr id="4" name="图片 1" descr="IMG_256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83435" y="1687830"/>
            <a:ext cx="8025130" cy="41097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/>
        </p:nvSpPr>
        <p:spPr>
          <a:xfrm>
            <a:off x="708025" y="74358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68900" y="6146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MTGR Model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21990"/>
            <a:ext cx="10969200" cy="705600"/>
          </a:xfrm>
        </p:spPr>
        <p:txBody>
          <a:bodyPr/>
          <a:lstStyle/>
          <a:p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背景：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MTGR-Scaling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8025" y="74358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46" name="Picture 2" descr="表5 不同尺寸MTGR计算效率对比">
            <a:extLst>
              <a:ext uri="{FF2B5EF4-FFF2-40B4-BE49-F238E27FC236}">
                <a16:creationId xmlns:a16="http://schemas.microsoft.com/office/drawing/2014/main" id="{7AC1485D-FA85-5818-059F-7E9D00349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00" y="1616641"/>
            <a:ext cx="5487600" cy="182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表6 不同尺寸MTGR模型Scaling Law效果">
            <a:extLst>
              <a:ext uri="{FF2B5EF4-FFF2-40B4-BE49-F238E27FC236}">
                <a16:creationId xmlns:a16="http://schemas.microsoft.com/office/drawing/2014/main" id="{F1BA7E59-5DE3-53DE-B4B9-F13AC48C1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00" y="4022738"/>
            <a:ext cx="5424498" cy="162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AB2D5C2-16CE-102D-3BC0-87C9800B0F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749586"/>
            <a:ext cx="4775200" cy="39019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946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39770"/>
            <a:ext cx="10969200" cy="705600"/>
          </a:xfrm>
        </p:spPr>
        <p:txBody>
          <a:bodyPr/>
          <a:lstStyle/>
          <a:p>
            <a:r>
              <a:rPr lang="en-US" altLang="zh-CN" sz="1800" dirty="0"/>
              <a:t>MTFM-USER</a:t>
            </a:r>
            <a:r>
              <a:rPr lang="zh-CN" altLang="en-US" sz="1800" dirty="0"/>
              <a:t>粒度聚合样本</a:t>
            </a:r>
          </a:p>
        </p:txBody>
      </p:sp>
      <p:sp>
        <p:nvSpPr>
          <p:cNvPr id="13" name="矩形 12"/>
          <p:cNvSpPr/>
          <p:nvPr/>
        </p:nvSpPr>
        <p:spPr>
          <a:xfrm>
            <a:off x="708025" y="74676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示, 示意图&#10;&#10;AI 生成的内容可能不正确。">
            <a:extLst>
              <a:ext uri="{FF2B5EF4-FFF2-40B4-BE49-F238E27FC236}">
                <a16:creationId xmlns:a16="http://schemas.microsoft.com/office/drawing/2014/main" id="{7461EAC1-2F47-9805-12F3-53CEE1150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452" y="1128870"/>
            <a:ext cx="4141630" cy="54967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6DDE901-ACE8-A083-9BBB-DC01DBCDE8B7}"/>
              </a:ext>
            </a:extLst>
          </p:cNvPr>
          <p:cNvSpPr txBox="1"/>
          <p:nvPr/>
        </p:nvSpPr>
        <p:spPr>
          <a:xfrm>
            <a:off x="1136014" y="1231900"/>
            <a:ext cx="4642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b="1" dirty="0"/>
              <a:t>request</a:t>
            </a:r>
            <a:r>
              <a:rPr lang="zh-CN" altLang="en-US" b="1" dirty="0"/>
              <a:t>级样本</a:t>
            </a:r>
            <a:r>
              <a:rPr lang="en-US" altLang="zh-CN" b="1" dirty="0"/>
              <a:t>-&gt;</a:t>
            </a:r>
            <a:r>
              <a:rPr lang="zh-CN" altLang="en-US" b="1" dirty="0"/>
              <a:t>用户级样本：</a:t>
            </a:r>
            <a:endParaRPr lang="zh-CN" alt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样本存储空间降低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用户侧计算复用</a:t>
            </a:r>
            <a:endParaRPr lang="en-US" altLang="zh-CN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生产效率提升</a:t>
            </a:r>
            <a:r>
              <a:rPr lang="en-US" altLang="zh-CN" b="1" dirty="0"/>
              <a:t>57%</a:t>
            </a:r>
            <a:endParaRPr lang="zh-CN" alt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4453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3580"/>
            <a:ext cx="10969200" cy="705600"/>
          </a:xfrm>
        </p:spPr>
        <p:txBody>
          <a:bodyPr/>
          <a:lstStyle/>
          <a:p>
            <a:r>
              <a:rPr lang="en-US" altLang="zh-CN" sz="1800"/>
              <a:t>MTFM-</a:t>
            </a:r>
            <a:r>
              <a:rPr lang="zh-CN" altLang="en-US" sz="1800"/>
              <a:t>统一样本</a:t>
            </a:r>
          </a:p>
        </p:txBody>
      </p:sp>
      <p:pic>
        <p:nvPicPr>
          <p:cNvPr id="6" name="图片 6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77147" y="2259844"/>
            <a:ext cx="9831705" cy="39992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1636375" y="4672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79450" y="77279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759BA7-8C44-F552-2155-CE46335A24D6}"/>
              </a:ext>
            </a:extLst>
          </p:cNvPr>
          <p:cNvSpPr txBox="1"/>
          <p:nvPr/>
        </p:nvSpPr>
        <p:spPr>
          <a:xfrm>
            <a:off x="1136014" y="1231900"/>
            <a:ext cx="9733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dirty="0"/>
              <a:t>request</a:t>
            </a:r>
            <a:r>
              <a:rPr lang="zh-CN" altLang="en-US" dirty="0"/>
              <a:t>级样本</a:t>
            </a:r>
            <a:r>
              <a:rPr lang="en-US" altLang="zh-CN" dirty="0"/>
              <a:t>-&gt;</a:t>
            </a:r>
            <a:r>
              <a:rPr lang="zh-CN" altLang="en-US" dirty="0"/>
              <a:t>用户级样本：统一</a:t>
            </a:r>
            <a:r>
              <a:rPr lang="en-US" altLang="zh-CN" dirty="0"/>
              <a:t>User</a:t>
            </a:r>
            <a:r>
              <a:rPr lang="zh-CN" altLang="en-US" dirty="0"/>
              <a:t> </a:t>
            </a:r>
            <a:r>
              <a:rPr lang="en-US" altLang="zh-CN" dirty="0"/>
              <a:t>Profile</a:t>
            </a:r>
            <a:r>
              <a:rPr lang="zh-CN" altLang="en-US" dirty="0"/>
              <a:t>，统一多场景序列，聚合实现天级</a:t>
            </a:r>
            <a:r>
              <a:rPr lang="en-US" altLang="zh-CN" dirty="0"/>
              <a:t>UG</a:t>
            </a:r>
            <a:r>
              <a:rPr lang="zh-CN" altLang="en-US" dirty="0"/>
              <a:t>分离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样本存储空间降低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用户侧计算复用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4740" y="218510"/>
            <a:ext cx="10969200" cy="705600"/>
          </a:xfrm>
        </p:spPr>
        <p:txBody>
          <a:bodyPr/>
          <a:lstStyle/>
          <a:p>
            <a:r>
              <a:rPr lang="en-US" altLang="zh-CN" sz="1800"/>
              <a:t>MTFM-</a:t>
            </a:r>
            <a:r>
              <a:rPr lang="zh-CN" altLang="en-US" sz="1800"/>
              <a:t>多业务统一</a:t>
            </a:r>
            <a:r>
              <a:rPr lang="en-US" altLang="zh-CN" sz="1800"/>
              <a:t>MTGR</a:t>
            </a:r>
            <a:r>
              <a:rPr lang="zh-CN" altLang="en-US" sz="1800"/>
              <a:t>模型（</a:t>
            </a:r>
            <a:r>
              <a:rPr lang="en-US" altLang="zh-CN" sz="1800"/>
              <a:t>launch</a:t>
            </a:r>
            <a:r>
              <a:rPr lang="zh-CN" altLang="en-US" sz="1800"/>
              <a:t>）</a:t>
            </a:r>
          </a:p>
        </p:txBody>
      </p:sp>
      <p:sp>
        <p:nvSpPr>
          <p:cNvPr id="13" name="矩形 12"/>
          <p:cNvSpPr/>
          <p:nvPr/>
        </p:nvSpPr>
        <p:spPr>
          <a:xfrm>
            <a:off x="642620" y="80073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87935" y="6057265"/>
            <a:ext cx="30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MTFM</a:t>
            </a:r>
            <a:r>
              <a:rPr lang="zh-CN" altLang="en-US" dirty="0"/>
              <a:t>模型结构</a:t>
            </a:r>
            <a:r>
              <a:rPr lang="en-US" altLang="zh-CN" dirty="0"/>
              <a:t>-</a:t>
            </a:r>
            <a:r>
              <a:rPr lang="zh-CN" altLang="en-US" dirty="0"/>
              <a:t>混合架构</a:t>
            </a:r>
            <a:r>
              <a:rPr lang="en-US" altLang="zh-CN" dirty="0"/>
              <a:t>v1</a:t>
            </a: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9A15A590-1906-7B1D-90B9-D0D496B86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666" y="1205548"/>
            <a:ext cx="8402665" cy="469836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301060"/>
            <a:ext cx="10969200" cy="705600"/>
          </a:xfrm>
        </p:spPr>
        <p:txBody>
          <a:bodyPr>
            <a:normAutofit fontScale="90000"/>
          </a:bodyPr>
          <a:lstStyle/>
          <a:p>
            <a:r>
              <a:rPr lang="en-US" altLang="zh-CN" sz="2000"/>
              <a:t>MTFM-</a:t>
            </a:r>
            <a:r>
              <a:rPr lang="zh-CN" altLang="en-US" sz="2000"/>
              <a:t>多业务动态混合掩码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5" name="图片 5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674484" y="1488555"/>
            <a:ext cx="5045075" cy="4512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矩形 12"/>
          <p:cNvSpPr/>
          <p:nvPr/>
        </p:nvSpPr>
        <p:spPr>
          <a:xfrm>
            <a:off x="679450" y="65595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5484" y="1205795"/>
            <a:ext cx="5809615" cy="2005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altLang="zh-CN" dirty="0"/>
              <a:t>V1</a:t>
            </a:r>
            <a:endParaRPr lang="zh-CN" alt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各场景</a:t>
            </a:r>
            <a:r>
              <a:rPr lang="en-US" altLang="zh-CN" dirty="0"/>
              <a:t>target token</a:t>
            </a:r>
            <a:r>
              <a:rPr lang="zh-CN" altLang="en-US" dirty="0"/>
              <a:t>：</a:t>
            </a:r>
            <a:r>
              <a:rPr lang="en-US" altLang="zh-CN" dirty="0"/>
              <a:t>timestamp mask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>
                <a:sym typeface="+mn-ea"/>
              </a:rPr>
              <a:t>各场景独有行为序列，多业务共享序列</a:t>
            </a:r>
            <a:endParaRPr lang="zh-CN" alt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CN" dirty="0"/>
              <a:t>V2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多业务序列按时间戳合并，商家</a:t>
            </a:r>
            <a:r>
              <a:rPr lang="en-US" altLang="zh-CN" dirty="0"/>
              <a:t>-</a:t>
            </a:r>
            <a:r>
              <a:rPr lang="zh-CN" altLang="en-US" dirty="0"/>
              <a:t>商品统一序列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301060"/>
            <a:ext cx="10969200" cy="705600"/>
          </a:xfrm>
        </p:spPr>
        <p:txBody>
          <a:bodyPr>
            <a:normAutofit fontScale="90000"/>
          </a:bodyPr>
          <a:lstStyle/>
          <a:p>
            <a:r>
              <a:rPr lang="en-US" altLang="zh-CN" sz="2000" dirty="0"/>
              <a:t>MTFM-</a:t>
            </a:r>
            <a:r>
              <a:rPr lang="zh-CN" altLang="en-US" sz="2000" dirty="0"/>
              <a:t>业务收益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9450" y="65595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AB09F67F-13B2-C9B0-3629-7FF9E14DD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421" y="1361554"/>
            <a:ext cx="4155256" cy="4759325"/>
          </a:xfr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FAF5F6-85C7-C8E6-2B04-45B5957BBD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000" y="2998267"/>
            <a:ext cx="5321300" cy="1485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102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85795"/>
            <a:ext cx="10969200" cy="705600"/>
          </a:xfrm>
        </p:spPr>
        <p:txBody>
          <a:bodyPr/>
          <a:lstStyle/>
          <a:p>
            <a:r>
              <a:rPr lang="en-US" altLang="zh-CN" sz="1800"/>
              <a:t>MTGR-Scaling</a:t>
            </a:r>
            <a:r>
              <a:rPr lang="zh-CN" altLang="en-US" sz="1800"/>
              <a:t>（</a:t>
            </a:r>
            <a:r>
              <a:rPr lang="en-US" altLang="zh-CN" sz="1800"/>
              <a:t>launch</a:t>
            </a:r>
            <a:r>
              <a:rPr lang="zh-CN" altLang="en-US" sz="1800"/>
              <a:t>）</a:t>
            </a:r>
          </a:p>
        </p:txBody>
      </p:sp>
      <p:sp>
        <p:nvSpPr>
          <p:cNvPr id="13" name="矩形 12"/>
          <p:cNvSpPr/>
          <p:nvPr/>
        </p:nvSpPr>
        <p:spPr>
          <a:xfrm>
            <a:off x="679450" y="68707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0564" y="1070610"/>
            <a:ext cx="7353935" cy="4657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itchFamily="2" charset="2"/>
              <a:buChar char="Ø"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MTGR - Scaling Up</a:t>
            </a:r>
            <a:r>
              <a:rPr lang="zh-CN" altLang="en-US" dirty="0"/>
              <a:t>难点（扩宽、扩深）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ROI</a:t>
            </a:r>
            <a:r>
              <a:rPr lang="zh-CN" altLang="en-US" dirty="0"/>
              <a:t>偏低，</a:t>
            </a:r>
            <a:r>
              <a:rPr lang="en-US" altLang="zh-CN" dirty="0"/>
              <a:t>Scaling Up</a:t>
            </a:r>
            <a:r>
              <a:rPr lang="zh-CN" altLang="en-US" dirty="0"/>
              <a:t>斜率一般：参数量翻倍、收益万</a:t>
            </a:r>
            <a:r>
              <a:rPr lang="en-US" altLang="zh-CN" dirty="0"/>
              <a:t>8</a:t>
            </a:r>
            <a:endParaRPr lang="zh-CN" altLang="en-US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训推耗时不可承受：层数</a:t>
            </a:r>
            <a:r>
              <a:rPr lang="en-US" altLang="zh-CN" dirty="0"/>
              <a:t>x2</a:t>
            </a:r>
            <a:r>
              <a:rPr lang="zh-CN" altLang="en-US" dirty="0"/>
              <a:t>，训练吞吐降低</a:t>
            </a:r>
            <a:r>
              <a:rPr lang="en-US" altLang="zh-CN" dirty="0"/>
              <a:t>70%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MTGR-Scaling</a:t>
            </a:r>
            <a:r>
              <a:rPr lang="zh-CN" altLang="en-US" dirty="0"/>
              <a:t>最终效果：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首页列表收入</a:t>
            </a:r>
            <a:r>
              <a:rPr lang="en-US" altLang="zh-CN" dirty="0"/>
              <a:t>+0.32%</a:t>
            </a:r>
            <a:r>
              <a:rPr lang="zh-CN" altLang="en-US" dirty="0"/>
              <a:t>，订单量</a:t>
            </a:r>
            <a:r>
              <a:rPr lang="en-US" altLang="zh-CN" dirty="0"/>
              <a:t>+0.22%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训练</a:t>
            </a:r>
            <a:r>
              <a:rPr lang="en-US" altLang="zh-CN" dirty="0"/>
              <a:t>MFU 28%</a:t>
            </a:r>
            <a:r>
              <a:rPr lang="zh-CN" altLang="en-US" dirty="0"/>
              <a:t>（</a:t>
            </a:r>
            <a:r>
              <a:rPr lang="en-US" altLang="zh-CN" dirty="0"/>
              <a:t>+39.1%</a:t>
            </a:r>
            <a:r>
              <a:rPr lang="zh-CN" altLang="en-US" dirty="0"/>
              <a:t>）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 </a:t>
            </a:r>
            <a:r>
              <a:rPr lang="zh-CN" altLang="en-US" dirty="0"/>
              <a:t>推理</a:t>
            </a:r>
            <a:r>
              <a:rPr lang="en-US" altLang="zh-CN" dirty="0"/>
              <a:t>MFU 43%</a:t>
            </a:r>
            <a:r>
              <a:rPr lang="zh-CN" altLang="en-US" dirty="0"/>
              <a:t>（</a:t>
            </a:r>
            <a:r>
              <a:rPr lang="en-US" altLang="zh-CN" dirty="0"/>
              <a:t>+42.0%</a:t>
            </a:r>
            <a:r>
              <a:rPr lang="zh-CN" altLang="en-US" dirty="0"/>
              <a:t>）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单次请求</a:t>
            </a:r>
            <a:r>
              <a:rPr lang="en-US" altLang="zh-CN" dirty="0"/>
              <a:t>186G FLOPS </a:t>
            </a:r>
            <a:r>
              <a:rPr lang="zh-CN" altLang="en-US" dirty="0"/>
              <a:t>（</a:t>
            </a:r>
            <a:r>
              <a:rPr lang="en-US" altLang="zh-CN" dirty="0"/>
              <a:t>+89.16%</a:t>
            </a:r>
            <a:r>
              <a:rPr lang="zh-CN" altLang="en-US" dirty="0"/>
              <a:t>）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训练速度持平，推理耗时微涨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85795"/>
            <a:ext cx="10969200" cy="705600"/>
          </a:xfrm>
        </p:spPr>
        <p:txBody>
          <a:bodyPr/>
          <a:lstStyle/>
          <a:p>
            <a:r>
              <a:rPr lang="en-US" altLang="zh-CN" sz="1800"/>
              <a:t>MTGR-Scaling</a:t>
            </a:r>
            <a:r>
              <a:rPr lang="zh-CN" altLang="en-US" sz="1800"/>
              <a:t>（</a:t>
            </a:r>
            <a:r>
              <a:rPr lang="en-US" altLang="zh-CN" sz="1800"/>
              <a:t>launch</a:t>
            </a:r>
            <a:r>
              <a:rPr lang="zh-CN" altLang="en-US" sz="1800"/>
              <a:t>）</a:t>
            </a:r>
          </a:p>
        </p:txBody>
      </p:sp>
      <p:pic>
        <p:nvPicPr>
          <p:cNvPr id="8" name="图片 8" descr="136080fc62d929e9890031f292bf4f04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25525" y="1492885"/>
            <a:ext cx="10436225" cy="40957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21435" y="5972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HSTU Backbone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45990" y="5972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混合注意力：</a:t>
            </a:r>
            <a:r>
              <a:rPr lang="en-US" altLang="zh-CN"/>
              <a:t>TA</a:t>
            </a:r>
            <a:r>
              <a:rPr lang="zh-CN" altLang="en-US"/>
              <a:t>：</a:t>
            </a:r>
            <a:r>
              <a:rPr lang="en-US" altLang="zh-CN"/>
              <a:t>FA=1</a:t>
            </a:r>
            <a:r>
              <a:rPr lang="zh-CN" altLang="en-US"/>
              <a:t>：</a:t>
            </a:r>
            <a:r>
              <a:rPr lang="en-US" altLang="zh-CN"/>
              <a:t>3</a:t>
            </a:r>
          </a:p>
        </p:txBody>
      </p:sp>
      <p:sp>
        <p:nvSpPr>
          <p:cNvPr id="13" name="矩形 12"/>
          <p:cNvSpPr/>
          <p:nvPr/>
        </p:nvSpPr>
        <p:spPr>
          <a:xfrm>
            <a:off x="679450" y="68707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007475" y="5972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STCA</a:t>
            </a:r>
            <a:r>
              <a:rPr lang="zh-CN" altLang="en-US"/>
              <a:t>优化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7540"/>
            <a:ext cx="10969200" cy="705600"/>
          </a:xfrm>
        </p:spPr>
        <p:txBody>
          <a:bodyPr/>
          <a:lstStyle/>
          <a:p>
            <a:r>
              <a:rPr lang="en-US" altLang="zh-CN" sz="1800"/>
              <a:t>MTGR-Scaling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230684"/>
            <a:ext cx="10969200" cy="5131479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ym typeface="+mn-ea"/>
              </a:rPr>
              <a:t>STCA</a:t>
            </a:r>
            <a:r>
              <a:rPr lang="zh-CN" altLang="en-US" b="1" dirty="0">
                <a:sym typeface="+mn-ea"/>
              </a:rPr>
              <a:t>优化</a:t>
            </a:r>
            <a:r>
              <a:rPr lang="en-US" altLang="zh-CN" b="1" dirty="0">
                <a:sym typeface="+mn-ea"/>
              </a:rPr>
              <a:t>-</a:t>
            </a:r>
            <a:r>
              <a:rPr lang="en-US" altLang="zh-CN" b="1" dirty="0"/>
              <a:t>Target Attention</a:t>
            </a:r>
            <a:r>
              <a:rPr lang="zh-CN" altLang="en-US" b="1" dirty="0"/>
              <a:t>计算重排</a:t>
            </a:r>
          </a:p>
          <a:p>
            <a:pPr marL="0" indent="0">
              <a:buNone/>
            </a:pPr>
            <a:endParaRPr lang="zh-CN" altLang="en-US" b="1" dirty="0"/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679450" y="708025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30" y="2014855"/>
            <a:ext cx="5779135" cy="21107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15340" y="5021580"/>
            <a:ext cx="4351655" cy="1462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收益：</a:t>
            </a:r>
            <a:endParaRPr lang="zh-CN" altLang="en-US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离线训练速度吞吐</a:t>
            </a:r>
            <a:r>
              <a:rPr lang="en-US" altLang="zh-CN" dirty="0"/>
              <a:t>+100%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altLang="zh-CN" dirty="0"/>
              <a:t>auc</a:t>
            </a:r>
            <a:r>
              <a:rPr lang="zh-CN" altLang="en-US" dirty="0"/>
              <a:t>持平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dirty="0"/>
              <a:t>在线推理</a:t>
            </a:r>
            <a:r>
              <a:rPr lang="en-US" altLang="zh-CN" dirty="0"/>
              <a:t>TP99</a:t>
            </a:r>
            <a:r>
              <a:rPr lang="zh-CN" altLang="en-US" dirty="0"/>
              <a:t>耗时</a:t>
            </a:r>
            <a:r>
              <a:rPr lang="en-US" altLang="zh-CN" dirty="0"/>
              <a:t>-30%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69620" y="4330065"/>
            <a:ext cx="9771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结构适配：对齐</a:t>
            </a:r>
            <a:r>
              <a:rPr lang="en-US" altLang="zh-CN" dirty="0"/>
              <a:t>LLM</a:t>
            </a:r>
            <a:r>
              <a:rPr lang="zh-CN" altLang="en-US" dirty="0"/>
              <a:t>全面实用</a:t>
            </a:r>
            <a:r>
              <a:rPr lang="en-US" altLang="zh-CN" dirty="0"/>
              <a:t>MHA</a:t>
            </a:r>
            <a:r>
              <a:rPr lang="zh-CN" altLang="en-US" dirty="0"/>
              <a:t>，去除</a:t>
            </a:r>
            <a:r>
              <a:rPr lang="en-US" altLang="zh-CN" dirty="0"/>
              <a:t>qkv</a:t>
            </a:r>
            <a:r>
              <a:rPr lang="zh-CN" altLang="en-US" dirty="0"/>
              <a:t>投影</a:t>
            </a:r>
            <a:r>
              <a:rPr lang="en-US" altLang="zh-CN" dirty="0"/>
              <a:t>silu</a:t>
            </a:r>
            <a:r>
              <a:rPr lang="zh-CN" altLang="en-US" dirty="0"/>
              <a:t>，增加</a:t>
            </a:r>
            <a:r>
              <a:rPr lang="en-US" altLang="zh-CN" dirty="0"/>
              <a:t>swigluFFN</a:t>
            </a:r>
            <a:r>
              <a:rPr lang="zh-CN" altLang="en-US" dirty="0"/>
              <a:t>弥补非线性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E70F137-7993-2B4F-DA89-586FF2C1D98D}"/>
                  </a:ext>
                </a:extLst>
              </p:cNvPr>
              <p:cNvSpPr txBox="1"/>
              <p:nvPr/>
            </p:nvSpPr>
            <p:spPr>
              <a:xfrm>
                <a:off x="4237949" y="2014855"/>
                <a:ext cx="5505097" cy="3962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计算量由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下降至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E70F137-7993-2B4F-DA89-586FF2C1D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949" y="2014855"/>
                <a:ext cx="5505097" cy="396262"/>
              </a:xfrm>
              <a:prstGeom prst="rect">
                <a:avLst/>
              </a:prstGeom>
              <a:blipFill>
                <a:blip r:embed="rId6"/>
                <a:stretch>
                  <a:fillRect l="-920" t="-3030"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-US" altLang="zh-CN" sz="1800"/>
              <a:t>MTGR-</a:t>
            </a:r>
            <a:r>
              <a:rPr lang="zh-CN" altLang="en-US" sz="1800"/>
              <a:t>参数量</a:t>
            </a:r>
            <a:r>
              <a:rPr lang="en-US" altLang="zh-CN" sz="1800"/>
              <a:t>Scaling Up</a:t>
            </a:r>
            <a:r>
              <a:rPr lang="en-US" altLang="zh-CN"/>
              <a:t> </a:t>
            </a:r>
          </a:p>
        </p:txBody>
      </p:sp>
      <p:pic>
        <p:nvPicPr>
          <p:cNvPr id="7" name="图片 7" descr="eeaf1071a4dd0855a8a1be7aec5e6403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77240" y="1430655"/>
            <a:ext cx="4942205" cy="475932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01034" y="1802695"/>
            <a:ext cx="6102077" cy="3366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/>
              <a:t>参数量</a:t>
            </a:r>
            <a:r>
              <a:rPr lang="en-US" altLang="zh-CN" b="1" dirty="0"/>
              <a:t>Scaling Up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Target token</a:t>
            </a:r>
            <a:r>
              <a:rPr lang="zh-CN" altLang="en-US" dirty="0"/>
              <a:t>拆分：</a:t>
            </a:r>
            <a:r>
              <a:rPr lang="en-US" altLang="zh-CN" dirty="0"/>
              <a:t>1 token to 4 token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Target Attention</a:t>
            </a:r>
            <a:r>
              <a:rPr lang="zh-CN" altLang="en-US" dirty="0"/>
              <a:t>和拥有独立</a:t>
            </a:r>
            <a:r>
              <a:rPr lang="en-US" altLang="zh-CN" dirty="0"/>
              <a:t>QKV</a:t>
            </a:r>
            <a:r>
              <a:rPr lang="zh-CN" altLang="en-US" dirty="0"/>
              <a:t>投影</a:t>
            </a:r>
            <a:r>
              <a:rPr lang="en-US" altLang="zh-CN" dirty="0"/>
              <a:t>Self Attention</a:t>
            </a:r>
            <a:endParaRPr lang="zh-CN" altLang="en-US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per-token</a:t>
            </a:r>
            <a:r>
              <a:rPr lang="zh-CN" altLang="en-US" dirty="0"/>
              <a:t> </a:t>
            </a:r>
            <a:r>
              <a:rPr lang="en-US" altLang="zh-CN" dirty="0"/>
              <a:t>FFN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/>
              <a:t>计算加速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User token</a:t>
            </a:r>
            <a:r>
              <a:rPr lang="zh-CN" altLang="en-US" dirty="0"/>
              <a:t>与</a:t>
            </a:r>
            <a:r>
              <a:rPr lang="en-US" altLang="zh-CN" dirty="0"/>
              <a:t>target token</a:t>
            </a:r>
            <a:r>
              <a:rPr lang="zh-CN" altLang="en-US" dirty="0"/>
              <a:t>融合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用户序列与</a:t>
            </a:r>
            <a:r>
              <a:rPr lang="en-US" altLang="zh-CN" dirty="0"/>
              <a:t>target</a:t>
            </a:r>
            <a:r>
              <a:rPr lang="zh-CN" altLang="en-US" dirty="0"/>
              <a:t>序列表示解耦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b="1" dirty="0">
                <a:sym typeface="+mn-ea"/>
              </a:rPr>
              <a:t>参数量</a:t>
            </a:r>
            <a:r>
              <a:rPr lang="en-US" altLang="zh-CN" b="1" dirty="0">
                <a:sym typeface="+mn-ea"/>
              </a:rPr>
              <a:t> 0.2B to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0.8B</a:t>
            </a:r>
            <a:r>
              <a:rPr lang="zh-CN" altLang="en-US" b="1" dirty="0">
                <a:sym typeface="+mn-ea"/>
              </a:rPr>
              <a:t>，训练速度持平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214120" y="6425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MTGR-Scaling up</a:t>
            </a:r>
            <a:r>
              <a:rPr lang="zh-CN" altLang="en-US"/>
              <a:t>模型结构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-US" altLang="zh-CN" sz="1800"/>
              <a:t>MTGR-</a:t>
            </a:r>
            <a:r>
              <a:rPr lang="zh-CN" altLang="en-US" sz="1800"/>
              <a:t>高效特征交叉</a:t>
            </a:r>
            <a:r>
              <a:rPr lang="en-US" altLang="zh-CN"/>
              <a:t> </a:t>
            </a:r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54520" y="1548130"/>
            <a:ext cx="4559300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>
                <a:sym typeface="+mn-ea"/>
              </a:rPr>
              <a:t>基于</a:t>
            </a:r>
            <a:r>
              <a:rPr lang="en-US" altLang="zh-CN" dirty="0">
                <a:sym typeface="+mn-ea"/>
              </a:rPr>
              <a:t>UG-Sep </a:t>
            </a:r>
            <a:r>
              <a:rPr lang="zh-CN" altLang="en-US" dirty="0">
                <a:sym typeface="+mn-ea"/>
              </a:rPr>
              <a:t>实现</a:t>
            </a:r>
            <a:r>
              <a:rPr lang="en-US" altLang="zh-CN" dirty="0">
                <a:sym typeface="+mn-ea"/>
              </a:rPr>
              <a:t>Share Token</a:t>
            </a:r>
            <a:r>
              <a:rPr lang="zh-CN" altLang="en-US" dirty="0">
                <a:sym typeface="+mn-ea"/>
              </a:rPr>
              <a:t>计算复用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推理速度持平，离线各指标</a:t>
            </a:r>
            <a:r>
              <a:rPr lang="en-US" altLang="zh-CN" b="1" dirty="0"/>
              <a:t>+0.15pp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dirty="0"/>
              <a:t>G</a:t>
            </a:r>
            <a:r>
              <a:rPr lang="zh-CN" altLang="en-US" dirty="0"/>
              <a:t>侧信息补偿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8B843B-C1A1-7897-09C2-4A031F592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" y="1548130"/>
            <a:ext cx="6006156" cy="48729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400" y="334080"/>
            <a:ext cx="10969200" cy="705600"/>
          </a:xfrm>
        </p:spPr>
        <p:txBody>
          <a:bodyPr/>
          <a:lstStyle/>
          <a:p>
            <a:r>
              <a:rPr lang="zh-CN" altLang="en-US" dirty="0"/>
              <a:t>快手：直播模型组</a:t>
            </a:r>
            <a:r>
              <a:rPr lang="en-US" altLang="zh-CN" dirty="0"/>
              <a:t>OneLive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504522" y="1049400"/>
                <a:ext cx="11580600" cy="475920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关键问题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如何构建适配直播场景的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tokenizer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（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动态变化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）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如何优化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GR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训练的效率和效果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altLang="zh-CN" dirty="0">
                    <a:solidFill>
                      <a:schemeClr val="tx1"/>
                    </a:solidFill>
                  </a:rPr>
                  <a:t>OneLive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如何跳脱召回视角，实现端到端做功？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解决手段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动态表征：协同信号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多模态语义门控融合，构建实时感知的主播 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Embedding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流式量化：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Res-Kmeans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初始化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+ 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RQ-VAE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端到端流式训练，结合聚类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/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对比约束与 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SID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频控，提升码本利用率与稳定性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码本评估：构建链路序一致性、精排增益、漂移率、类内一致性、分布熵等多维评估体系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生成优化：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&lt;_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dis&gt;Token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+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全局对比学习补偿量化信息损失，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Hit@128 +6.8%</a:t>
                </a:r>
                <a:r>
                  <a:rPr lang="zh-CN" altLang="en" dirty="0">
                    <a:solidFill>
                      <a:schemeClr val="tx1"/>
                    </a:solidFill>
                  </a:rPr>
                  <a:t>；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Sequential MTP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复用前序语义与计算，</a:t>
                </a:r>
                <a:r>
                  <a:rPr lang="en" altLang="zh-CN" dirty="0">
                    <a:solidFill>
                      <a:schemeClr val="tx1"/>
                    </a:solidFill>
                  </a:rPr>
                  <a:t>QPS +88.2%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altLang="zh-CN" dirty="0">
                    <a:solidFill>
                      <a:schemeClr val="tx1"/>
                    </a:solidFill>
                  </a:rPr>
                  <a:t>Decode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only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架构统一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OneLive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的排序任务，召回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/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粗排均获得一定收益</a:t>
                </a:r>
                <a:endParaRPr lang="en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504522" y="1049400"/>
                <a:ext cx="11580600" cy="4759200"/>
              </a:xfrm>
              <a:blipFill>
                <a:blip r:embed="rId6"/>
                <a:stretch>
                  <a:fillRect l="-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28139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-US" altLang="zh-CN" sz="1800" dirty="0"/>
              <a:t>OneLive-Tokenizer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32700" y="1802695"/>
            <a:ext cx="4559300" cy="351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门控融合</a:t>
            </a:r>
            <a:r>
              <a:rPr lang="en-US" altLang="zh-CN" dirty="0"/>
              <a:t>mmu</a:t>
            </a:r>
            <a:r>
              <a:rPr lang="zh-CN" altLang="en-US" dirty="0"/>
              <a:t>和协同</a:t>
            </a:r>
            <a:r>
              <a:rPr lang="en-US" altLang="zh-CN" dirty="0"/>
              <a:t>emb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构建端到端</a:t>
            </a:r>
            <a:r>
              <a:rPr lang="en-US" altLang="zh-CN" dirty="0"/>
              <a:t>RQ-VAE</a:t>
            </a:r>
            <a:r>
              <a:rPr lang="zh-CN" altLang="en-US" dirty="0"/>
              <a:t>码本流失更新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dirty="0"/>
              <a:t>全量主播</a:t>
            </a:r>
            <a:r>
              <a:rPr lang="en-US" altLang="zh-CN" sz="1600" dirty="0"/>
              <a:t>Res-Kmeans</a:t>
            </a:r>
            <a:r>
              <a:rPr lang="zh-CN" altLang="en-US" sz="1600" dirty="0"/>
              <a:t>初始化，定期更新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dirty="0"/>
              <a:t>多样化损失防止坍塌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dirty="0"/>
              <a:t>死码剔除</a:t>
            </a:r>
            <a:endParaRPr lang="en-US" altLang="zh-CN" sz="1600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dirty="0"/>
              <a:t>频率控制防止</a:t>
            </a:r>
            <a:r>
              <a:rPr lang="en-US" altLang="zh-CN" sz="1600" dirty="0"/>
              <a:t>GR</a:t>
            </a:r>
            <a:r>
              <a:rPr lang="zh-CN" altLang="en-US" sz="1600" dirty="0"/>
              <a:t> </a:t>
            </a:r>
            <a:r>
              <a:rPr lang="en-US" altLang="zh-CN" sz="1600" dirty="0"/>
              <a:t>label</a:t>
            </a:r>
            <a:r>
              <a:rPr lang="zh-CN" altLang="en-US" sz="1600" dirty="0"/>
              <a:t>抖动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构建多维度码本评估体系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zh-CN" sz="1600" dirty="0">
                <a:solidFill>
                  <a:schemeClr val="tx1"/>
                </a:solidFill>
              </a:rPr>
              <a:t>链路序一致性、精排增益、码本漂移率、类内一致性、分布熵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AFD8801-8CE7-018E-E49D-2CB32B5AD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94" y="1551420"/>
            <a:ext cx="7181575" cy="43624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A4B0A4E-EB24-8CC3-A4CD-13D2C09B1E3D}"/>
              </a:ext>
            </a:extLst>
          </p:cNvPr>
          <p:cNvSpPr txBox="1"/>
          <p:nvPr/>
        </p:nvSpPr>
        <p:spPr>
          <a:xfrm>
            <a:off x="4016045" y="1302106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|X – </a:t>
            </a:r>
            <a:r>
              <a:rPr kumimoji="1" lang="en-US" altLang="zh-CN" dirty="0" err="1"/>
              <a:t>embi</a:t>
            </a:r>
            <a:r>
              <a:rPr kumimoji="1" lang="en-US" altLang="zh-CN" dirty="0"/>
              <a:t>|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3963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-US" altLang="zh-CN" sz="1800" dirty="0"/>
              <a:t>OneLive-GR MTP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76828" y="1132135"/>
            <a:ext cx="5795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rgbClr val="333333"/>
                </a:solidFill>
                <a:effectLst/>
                <a:latin typeface="PingFangSC-Semibold"/>
              </a:rPr>
              <a:t>单机</a:t>
            </a:r>
            <a:r>
              <a:rPr lang="en" altLang="zh-CN" b="1" dirty="0">
                <a:solidFill>
                  <a:srgbClr val="333333"/>
                </a:solidFill>
                <a:latin typeface="OpenSans-Bold"/>
              </a:rPr>
              <a:t>QPS</a:t>
            </a:r>
            <a:r>
              <a:rPr lang="zh-CN" altLang="en" b="1" dirty="0">
                <a:solidFill>
                  <a:srgbClr val="333333"/>
                </a:solidFill>
                <a:latin typeface="OpenSans-Bold"/>
              </a:rPr>
              <a:t>大幅提升</a:t>
            </a:r>
            <a:r>
              <a:rPr lang="zh-CN" altLang="en-US" b="1" dirty="0">
                <a:solidFill>
                  <a:srgbClr val="333333"/>
                </a:solidFill>
                <a:latin typeface="PingFangSC-Regular"/>
              </a:rPr>
              <a:t>：</a:t>
            </a:r>
            <a:r>
              <a:rPr lang="en-US" altLang="zh-CN" dirty="0">
                <a:solidFill>
                  <a:srgbClr val="333333"/>
                </a:solidFill>
                <a:effectLst/>
                <a:latin typeface="OpenSans-Regular"/>
              </a:rPr>
              <a:t>0.925</a:t>
            </a:r>
            <a:r>
              <a:rPr lang="en" altLang="zh-CN" dirty="0">
                <a:solidFill>
                  <a:srgbClr val="333333"/>
                </a:solidFill>
                <a:effectLst/>
                <a:latin typeface="OpenSans-Regular"/>
              </a:rPr>
              <a:t>k -&gt; 1.74k </a:t>
            </a:r>
            <a:r>
              <a:rPr lang="en" altLang="zh-CN" b="1" dirty="0">
                <a:solidFill>
                  <a:srgbClr val="333333"/>
                </a:solidFill>
                <a:effectLst/>
                <a:latin typeface="OpenSans-Bold"/>
              </a:rPr>
              <a:t>(+88.12%)</a:t>
            </a:r>
            <a:endParaRPr lang="en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34827C-8F8C-35AF-4630-3575CE4BC0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527" y="1582953"/>
            <a:ext cx="9188945" cy="51346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2079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-US" altLang="zh-CN" sz="1800" dirty="0"/>
              <a:t>OneLive-</a:t>
            </a:r>
            <a:r>
              <a:rPr lang="zh-CN" altLang="en-US" sz="1800" dirty="0"/>
              <a:t>三期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72526" y="1255512"/>
            <a:ext cx="3017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1800" dirty="0">
                <a:solidFill>
                  <a:srgbClr val="333333"/>
                </a:solidFill>
                <a:effectLst/>
                <a:latin typeface="OpenSans-Bold"/>
              </a:rPr>
              <a:t>ResKmeansLFQ</a:t>
            </a:r>
            <a:r>
              <a:rPr lang="zh-CN" altLang="en-US" sz="1800" dirty="0">
                <a:solidFill>
                  <a:srgbClr val="333333"/>
                </a:solidFill>
                <a:effectLst/>
                <a:latin typeface="PingFangSC-Semibold"/>
              </a:rPr>
              <a:t>混合码本</a:t>
            </a:r>
            <a:endParaRPr lang="en-US" altLang="zh-CN" sz="1800" dirty="0">
              <a:solidFill>
                <a:srgbClr val="333333"/>
              </a:solidFill>
              <a:effectLst/>
              <a:latin typeface="PingFangSC-Semibold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" altLang="zh-CN" sz="1800" dirty="0">
                <a:solidFill>
                  <a:srgbClr val="333333"/>
                </a:solidFill>
                <a:effectLst/>
                <a:latin typeface="OpenSans-Bold"/>
              </a:rPr>
              <a:t>SID</a:t>
            </a:r>
            <a:r>
              <a:rPr lang="zh-CN" altLang="en-US" sz="1800" dirty="0">
                <a:solidFill>
                  <a:srgbClr val="333333"/>
                </a:solidFill>
                <a:effectLst/>
                <a:latin typeface="PingFangSC-Semibold"/>
              </a:rPr>
              <a:t>动态自适应感知权重</a:t>
            </a:r>
            <a:endParaRPr lang="en-US" altLang="zh-CN" sz="1800" dirty="0">
              <a:solidFill>
                <a:srgbClr val="333333"/>
              </a:solidFill>
              <a:effectLst/>
              <a:latin typeface="PingFangSC-Semibold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sz="1800" dirty="0">
                <a:solidFill>
                  <a:srgbClr val="333333"/>
                </a:solidFill>
                <a:effectLst/>
                <a:latin typeface="PingFangSC-Semibold"/>
              </a:rPr>
              <a:t>全局语义蒸馏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3568D1-D246-FB06-C871-5B581A737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49" y="2178842"/>
            <a:ext cx="10035901" cy="456638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9F8B859-B3B0-FE0E-EE11-74D8E9FB60FE}"/>
              </a:ext>
            </a:extLst>
          </p:cNvPr>
          <p:cNvSpPr txBox="1"/>
          <p:nvPr/>
        </p:nvSpPr>
        <p:spPr>
          <a:xfrm>
            <a:off x="4034012" y="1301410"/>
            <a:ext cx="73854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1600" dirty="0"/>
              <a:t>极速：单列外流直播间内-观看时长</a:t>
            </a:r>
            <a:r>
              <a:rPr lang="en-US" altLang="zh-CN" sz="1600" b="1" dirty="0"/>
              <a:t>+</a:t>
            </a:r>
            <a:r>
              <a:rPr lang="zh-CN" altLang="en-US" sz="1600" b="1" dirty="0"/>
              <a:t>0.853%</a:t>
            </a:r>
            <a:r>
              <a:rPr lang="zh-CN" altLang="en-US" sz="1600" dirty="0"/>
              <a:t>，</a:t>
            </a:r>
            <a:r>
              <a:rPr lang="en" altLang="zh-CN" sz="1600" dirty="0"/>
              <a:t> ltv1-</a:t>
            </a:r>
            <a:r>
              <a:rPr lang="zh-CN" altLang="en-US" sz="1600" dirty="0"/>
              <a:t>直播观看时长</a:t>
            </a:r>
            <a:r>
              <a:rPr lang="en-US" altLang="zh-CN" sz="1600" b="1" dirty="0"/>
              <a:t>+0.961%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sz="1600" dirty="0"/>
              <a:t>离线收益显著，线上极速收益显著，精选持平，OneLive曝光占比从</a:t>
            </a:r>
            <a:r>
              <a:rPr lang="zh-CN" altLang="en-US" sz="1600" b="1" dirty="0"/>
              <a:t>65.2% -&gt; </a:t>
            </a:r>
            <a:r>
              <a:rPr lang="en-US" altLang="zh-CN" sz="1600" b="1" dirty="0">
                <a:solidFill>
                  <a:srgbClr val="FF0000"/>
                </a:solidFill>
              </a:rPr>
              <a:t>80</a:t>
            </a:r>
            <a:r>
              <a:rPr lang="zh-CN" altLang="en-US" sz="1600" b="1" dirty="0">
                <a:solidFill>
                  <a:srgbClr val="FF0000"/>
                </a:solidFill>
              </a:rPr>
              <a:t>.</a:t>
            </a:r>
            <a:r>
              <a:rPr lang="en-US" altLang="zh-CN" sz="1600" b="1" dirty="0">
                <a:solidFill>
                  <a:srgbClr val="FF0000"/>
                </a:solidFill>
              </a:rPr>
              <a:t>9</a:t>
            </a:r>
            <a:r>
              <a:rPr lang="zh-CN" altLang="en-US" sz="1600" b="1" dirty="0">
                <a:solidFill>
                  <a:srgbClr val="FF0000"/>
                </a:solidFill>
              </a:rPr>
              <a:t>%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3241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zh-CN" altLang="en-US" sz="1800" dirty="0"/>
              <a:t>召粗一体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8E9565-988E-8F0B-C134-1E89DC2FE7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81" y="2700378"/>
            <a:ext cx="10001637" cy="39231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6DEDA5F-57A7-D86E-E3A9-FCD374F4DE05}"/>
              </a:ext>
            </a:extLst>
          </p:cNvPr>
          <p:cNvSpPr txBox="1"/>
          <p:nvPr/>
        </p:nvSpPr>
        <p:spPr>
          <a:xfrm>
            <a:off x="679450" y="1097280"/>
            <a:ext cx="106971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用户上下文、</a:t>
            </a:r>
            <a:r>
              <a:rPr lang="en" altLang="zh-CN" dirty="0"/>
              <a:t>SID </a:t>
            </a:r>
            <a:r>
              <a:rPr lang="zh-CN" altLang="en-US" dirty="0"/>
              <a:t>生成序列、商品特征构成统一</a:t>
            </a:r>
            <a:r>
              <a:rPr lang="en-US" altLang="zh-CN" dirty="0"/>
              <a:t>token</a:t>
            </a:r>
            <a:r>
              <a:rPr lang="zh-CN" altLang="en-US" dirty="0"/>
              <a:t>序列，粗排复用召回完整生成表征，消除两阶段信息割裂，帮助粗排感知</a:t>
            </a:r>
            <a:r>
              <a:rPr lang="en-US" altLang="zh-CN" dirty="0"/>
              <a:t>sid</a:t>
            </a:r>
            <a:r>
              <a:rPr lang="zh-CN" altLang="en-US" dirty="0"/>
              <a:t>。 </a:t>
            </a:r>
            <a:endParaRPr lang="en-US" altLang="zh-CN" dirty="0"/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召回粗排共享一套 </a:t>
            </a:r>
            <a:r>
              <a:rPr lang="en" altLang="zh-CN" dirty="0"/>
              <a:t>QKV </a:t>
            </a:r>
            <a:r>
              <a:rPr lang="zh-CN" altLang="en-US" dirty="0"/>
              <a:t>权重，召回采用前缀因果掩码，精排舍弃长历史仅读取关键片段，兼顾生成合法性与计算效率。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主干参数共享，粗排引入专属 </a:t>
            </a:r>
            <a:r>
              <a:rPr lang="en" altLang="zh-CN" dirty="0"/>
              <a:t>LoRA </a:t>
            </a:r>
            <a:r>
              <a:rPr lang="zh-CN" altLang="en-US" dirty="0"/>
              <a:t>并截断梯度，实现前向表征互通、反向优化互不干扰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4543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zh-CN" altLang="en-US" sz="1800" dirty="0"/>
              <a:t>召粗一体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18109E-A304-8BF6-24CB-3CD53D9CE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69889"/>
            <a:ext cx="7192381" cy="35204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09D0B2D-0D5F-300D-69FE-5352DE363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293" y="3534135"/>
            <a:ext cx="4722307" cy="19726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29BCEFD-434D-522C-9ED8-0381CDC85AE5}"/>
              </a:ext>
            </a:extLst>
          </p:cNvPr>
          <p:cNvSpPr txBox="1"/>
          <p:nvPr/>
        </p:nvSpPr>
        <p:spPr>
          <a:xfrm>
            <a:off x="701216" y="27939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在线</a:t>
            </a:r>
            <a:r>
              <a:rPr kumimoji="1" lang="en-US" altLang="zh-CN" dirty="0"/>
              <a:t>Infer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C623553-D6D2-1A9F-CB79-BA2829128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000" y="1351256"/>
            <a:ext cx="5937167" cy="197260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7BDF5DB-D844-17C9-9861-DB74E40FECB2}"/>
              </a:ext>
            </a:extLst>
          </p:cNvPr>
          <p:cNvSpPr txBox="1"/>
          <p:nvPr/>
        </p:nvSpPr>
        <p:spPr>
          <a:xfrm>
            <a:off x="679450" y="1483965"/>
            <a:ext cx="51026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dirty="0"/>
              <a:t>粗排收益来自于</a:t>
            </a:r>
            <a:r>
              <a:rPr kumimoji="1" lang="en-US" altLang="zh-CN" b="1" dirty="0"/>
              <a:t>Transformer</a:t>
            </a:r>
            <a:r>
              <a:rPr kumimoji="1" lang="zh-CN" altLang="en-US" b="1" dirty="0"/>
              <a:t>化和</a:t>
            </a:r>
            <a:r>
              <a:rPr kumimoji="1" lang="en-US" altLang="zh-CN" b="1" dirty="0"/>
              <a:t>sid</a:t>
            </a:r>
            <a:r>
              <a:rPr kumimoji="1" lang="zh-CN" altLang="en-US" b="1" dirty="0"/>
              <a:t>感知</a:t>
            </a:r>
            <a:endParaRPr kumimoji="1" lang="en-US" altLang="zh-CN" b="1" dirty="0"/>
          </a:p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dirty="0"/>
              <a:t>召回收益来自于</a:t>
            </a:r>
            <a:r>
              <a:rPr kumimoji="1" lang="en-US" altLang="zh-CN" b="1" dirty="0"/>
              <a:t>Decoder</a:t>
            </a:r>
            <a:r>
              <a:rPr kumimoji="1" lang="zh-CN" altLang="en-US" b="1" dirty="0"/>
              <a:t>架构改进和</a:t>
            </a:r>
            <a:r>
              <a:rPr kumimoji="1" lang="en-US" altLang="zh-CN" b="1" dirty="0"/>
              <a:t>emb</a:t>
            </a:r>
            <a:r>
              <a:rPr kumimoji="1" lang="zh-CN" altLang="en-US" b="1" dirty="0"/>
              <a:t>共建</a:t>
            </a:r>
            <a:endParaRPr kumimoji="1" lang="en-US" altLang="zh-CN" b="1" dirty="0"/>
          </a:p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dirty="0"/>
              <a:t>链路收益来自于召粗一体的</a:t>
            </a:r>
            <a:r>
              <a:rPr kumimoji="1" lang="zh-CN" altLang="en-US" b="1" dirty="0"/>
              <a:t>时耗下降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965DAA5-02B5-A593-5976-F4AB5D07F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548" y="5506744"/>
            <a:ext cx="4601796" cy="11803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478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400" y="334080"/>
            <a:ext cx="10969200" cy="705600"/>
          </a:xfrm>
        </p:spPr>
        <p:txBody>
          <a:bodyPr/>
          <a:lstStyle/>
          <a:p>
            <a:r>
              <a:rPr lang="zh-CN" altLang="en-US" dirty="0"/>
              <a:t>字节：</a:t>
            </a:r>
            <a:r>
              <a:rPr lang="en-US" altLang="zh-CN" dirty="0"/>
              <a:t>TT</a:t>
            </a:r>
            <a:r>
              <a:rPr lang="zh-CN" altLang="en-US" dirty="0"/>
              <a:t>电商搜索词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4521" y="1049400"/>
            <a:ext cx="11535079" cy="4759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关键问题</a:t>
            </a:r>
            <a:endParaRPr lang="en-US" altLang="zh-CN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LLM</a:t>
            </a:r>
            <a:r>
              <a:rPr lang="zh-CN" altLang="en-US" dirty="0">
                <a:solidFill>
                  <a:schemeClr val="tx1"/>
                </a:solidFill>
              </a:rPr>
              <a:t>召回：如何融合长期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短期兴趣生成个性化</a:t>
            </a:r>
            <a:r>
              <a:rPr lang="en-US" altLang="zh-CN" dirty="0">
                <a:solidFill>
                  <a:schemeClr val="tx1"/>
                </a:solidFill>
              </a:rPr>
              <a:t>Query</a:t>
            </a:r>
            <a:r>
              <a:rPr lang="zh-CN" altLang="en-US" dirty="0">
                <a:solidFill>
                  <a:schemeClr val="tx1"/>
                </a:solidFill>
              </a:rPr>
              <a:t>，并解决幻觉、泛词及业务偏离？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序列建模：如何统一建模</a:t>
            </a:r>
            <a:r>
              <a:rPr lang="en-US" altLang="zh-CN" dirty="0">
                <a:solidFill>
                  <a:schemeClr val="tx1"/>
                </a:solidFill>
              </a:rPr>
              <a:t>Query–Product</a:t>
            </a:r>
            <a:r>
              <a:rPr lang="zh-CN" altLang="en-US" dirty="0">
                <a:solidFill>
                  <a:schemeClr val="tx1"/>
                </a:solidFill>
              </a:rPr>
              <a:t>语义、多行为序列与实时搜索兴趣，同时兼顾</a:t>
            </a:r>
            <a:r>
              <a:rPr lang="en-US" altLang="zh-CN" dirty="0">
                <a:solidFill>
                  <a:schemeClr val="tx1"/>
                </a:solidFill>
              </a:rPr>
              <a:t>Scaling</a:t>
            </a:r>
            <a:r>
              <a:rPr lang="zh-CN" altLang="en-US" dirty="0">
                <a:solidFill>
                  <a:schemeClr val="tx1"/>
                </a:solidFill>
              </a:rPr>
              <a:t>效率？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技术方案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生成召回：</a:t>
            </a:r>
            <a:r>
              <a:rPr lang="en-US" altLang="zh-CN" dirty="0">
                <a:solidFill>
                  <a:schemeClr val="tx1"/>
                </a:solidFill>
              </a:rPr>
              <a:t>Memory+</a:t>
            </a:r>
            <a:r>
              <a:rPr lang="zh-CN" altLang="en-US" dirty="0">
                <a:solidFill>
                  <a:schemeClr val="tx1"/>
                </a:solidFill>
              </a:rPr>
              <a:t>行为序列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电商图谱构建用户意图，真实日志</a:t>
            </a:r>
            <a:r>
              <a:rPr lang="en-US" altLang="zh-CN" dirty="0">
                <a:solidFill>
                  <a:schemeClr val="tx1"/>
                </a:solidFill>
              </a:rPr>
              <a:t>×GPT</a:t>
            </a:r>
            <a:r>
              <a:rPr lang="zh-CN" altLang="en-US" dirty="0">
                <a:solidFill>
                  <a:schemeClr val="tx1"/>
                </a:solidFill>
              </a:rPr>
              <a:t>蒸馏</a:t>
            </a:r>
            <a:r>
              <a:rPr lang="en-US" altLang="zh-CN" dirty="0">
                <a:solidFill>
                  <a:schemeClr val="tx1"/>
                </a:solidFill>
              </a:rPr>
              <a:t>SFT</a:t>
            </a:r>
            <a:r>
              <a:rPr lang="zh-CN" altLang="en-US" dirty="0">
                <a:solidFill>
                  <a:schemeClr val="tx1"/>
                </a:solidFill>
              </a:rPr>
              <a:t>，离线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近线混合更新保障时效性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偏好对齐：精排高分候选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曝光点击</a:t>
            </a:r>
            <a:r>
              <a:rPr lang="en-US" altLang="zh-CN" dirty="0">
                <a:solidFill>
                  <a:schemeClr val="tx1"/>
                </a:solidFill>
              </a:rPr>
              <a:t>Top20</a:t>
            </a:r>
            <a:r>
              <a:rPr lang="zh-CN" altLang="en-US" dirty="0">
                <a:solidFill>
                  <a:schemeClr val="tx1"/>
                </a:solidFill>
              </a:rPr>
              <a:t>构造</a:t>
            </a:r>
            <a:r>
              <a:rPr lang="en-US" altLang="zh-CN" dirty="0">
                <a:solidFill>
                  <a:schemeClr val="tx1"/>
                </a:solidFill>
              </a:rPr>
              <a:t>DPO</a:t>
            </a:r>
            <a:r>
              <a:rPr lang="zh-CN" altLang="en-US" dirty="0">
                <a:solidFill>
                  <a:schemeClr val="tx1"/>
                </a:solidFill>
              </a:rPr>
              <a:t>数据，抑制泛词、幻觉及非电商生成，</a:t>
            </a:r>
            <a:r>
              <a:rPr lang="en-US" altLang="zh-CN" dirty="0">
                <a:solidFill>
                  <a:schemeClr val="tx1"/>
                </a:solidFill>
              </a:rPr>
              <a:t>PV-CTR+1.45pp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PV-CTCVR+0.54pp</a:t>
            </a:r>
            <a:endParaRPr lang="zh-CN" alt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</a:rPr>
              <a:t>Q×P</a:t>
            </a:r>
            <a:r>
              <a:rPr lang="zh-CN" altLang="en-US" dirty="0">
                <a:solidFill>
                  <a:schemeClr val="tx1"/>
                </a:solidFill>
              </a:rPr>
              <a:t>多模态</a:t>
            </a:r>
            <a:r>
              <a:rPr lang="en-US" altLang="zh-CN" dirty="0">
                <a:solidFill>
                  <a:schemeClr val="tx1"/>
                </a:solidFill>
              </a:rPr>
              <a:t>SimTiar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LSTBW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Stack-DIN</a:t>
            </a:r>
            <a:r>
              <a:rPr lang="zh-CN" altLang="en-US" dirty="0">
                <a:solidFill>
                  <a:schemeClr val="tx1"/>
                </a:solidFill>
              </a:rPr>
              <a:t>，强化语义对齐与高阶兴趣，</a:t>
            </a:r>
            <a:r>
              <a:rPr lang="en-US" altLang="zh-CN" dirty="0">
                <a:solidFill>
                  <a:schemeClr val="tx1"/>
                </a:solidFill>
              </a:rPr>
              <a:t>CTR-AUC+0.12pp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模型</a:t>
            </a:r>
            <a:r>
              <a:rPr lang="en-US" altLang="zh-CN" dirty="0">
                <a:solidFill>
                  <a:schemeClr val="tx1"/>
                </a:solidFill>
              </a:rPr>
              <a:t>scaling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chemeClr val="tx1"/>
                </a:solidFill>
              </a:rPr>
              <a:t>OneTrans</a:t>
            </a:r>
            <a:r>
              <a:rPr lang="zh-CN" altLang="en-US" dirty="0">
                <a:solidFill>
                  <a:schemeClr val="tx1"/>
                </a:solidFill>
              </a:rPr>
              <a:t>重构一期、</a:t>
            </a:r>
            <a:r>
              <a:rPr lang="en-US" altLang="zh-CN" dirty="0">
                <a:solidFill>
                  <a:schemeClr val="tx1"/>
                </a:solidFill>
              </a:rPr>
              <a:t>HyFormer</a:t>
            </a:r>
            <a:r>
              <a:rPr lang="zh-CN" altLang="en-US" dirty="0">
                <a:solidFill>
                  <a:schemeClr val="tx1"/>
                </a:solidFill>
              </a:rPr>
              <a:t>在</a:t>
            </a:r>
            <a:r>
              <a:rPr lang="en-US" altLang="zh-CN" dirty="0">
                <a:solidFill>
                  <a:schemeClr val="tx1"/>
                </a:solidFill>
              </a:rPr>
              <a:t>EU</a:t>
            </a:r>
            <a:r>
              <a:rPr lang="zh-CN" altLang="en-US" dirty="0">
                <a:solidFill>
                  <a:schemeClr val="tx1"/>
                </a:solidFill>
              </a:rPr>
              <a:t>的统一模型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0344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zh-CN" altLang="en-US" sz="1800" dirty="0"/>
              <a:t>异形卡个性化召回</a:t>
            </a: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EBBB2B-1CFF-6BF4-C2E0-797B41392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110" y="1154857"/>
            <a:ext cx="8006039" cy="55627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425F14B-9C09-66B0-6ED6-5749DD61D451}"/>
              </a:ext>
            </a:extLst>
          </p:cNvPr>
          <p:cNvSpPr txBox="1"/>
          <p:nvPr/>
        </p:nvSpPr>
        <p:spPr>
          <a:xfrm>
            <a:off x="679450" y="2228671"/>
            <a:ext cx="3122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zh-CN" altLang="e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用户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兴趣构建</a:t>
            </a:r>
            <a:endParaRPr lang="en-US" altLang="zh-CN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GPT5.5+</a:t>
            </a:r>
            <a:r>
              <a:rPr lang="zh-CN" altLang="e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线上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搜索日志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SFT</a:t>
            </a:r>
            <a:endParaRPr lang="en" altLang="zh-CN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" altLang="zh-C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DPO</a:t>
            </a:r>
            <a:r>
              <a:rPr lang="zh-CN" altLang="en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感知</a:t>
            </a: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</a:rPr>
              <a:t>对齐</a:t>
            </a:r>
            <a:endParaRPr lang="en" altLang="zh-CN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dirty="0"/>
              <a:t>离线</a:t>
            </a:r>
            <a:r>
              <a:rPr kumimoji="1" lang="en-US" altLang="zh-CN" dirty="0"/>
              <a:t>+</a:t>
            </a:r>
            <a:r>
              <a:rPr kumimoji="1" lang="zh-CN" altLang="en-US" dirty="0"/>
              <a:t>近线混合更新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6537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zh-CN" altLang="en-US" sz="1800" dirty="0"/>
              <a:t>异形卡个性化召回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9BAEB2-25C0-7C0E-7633-7C2F04FCDDCC}"/>
              </a:ext>
            </a:extLst>
          </p:cNvPr>
          <p:cNvSpPr txBox="1"/>
          <p:nvPr/>
        </p:nvSpPr>
        <p:spPr>
          <a:xfrm>
            <a:off x="852054" y="1715736"/>
            <a:ext cx="107255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</a:rPr>
              <a:t>方案对比： </a:t>
            </a:r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" altLang="zh-CN" sz="1600" dirty="0"/>
              <a:t>SFT </a:t>
            </a:r>
            <a:r>
              <a:rPr lang="zh-CN" altLang="en-US" sz="1600" dirty="0"/>
              <a:t>有效提升模型基础生成能力与合法率；</a:t>
            </a:r>
            <a:endParaRPr lang="en-US" altLang="zh-CN" sz="16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" altLang="zh-CN" sz="1600" dirty="0"/>
              <a:t>Listwise SFT </a:t>
            </a:r>
            <a:r>
              <a:rPr lang="zh-CN" altLang="en-US" sz="1600" dirty="0"/>
              <a:t>强化 </a:t>
            </a:r>
            <a:r>
              <a:rPr lang="en" altLang="zh-CN" sz="1600" dirty="0"/>
              <a:t>Top-K </a:t>
            </a:r>
            <a:r>
              <a:rPr lang="zh-CN" altLang="en-US" sz="1600" dirty="0"/>
              <a:t>覆盖，但合法率有所下降且推理成本更高；</a:t>
            </a:r>
            <a:endParaRPr lang="en-US" altLang="zh-CN" sz="16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" altLang="zh-CN" sz="1600" dirty="0"/>
              <a:t>DPO </a:t>
            </a:r>
            <a:r>
              <a:rPr lang="zh-CN" altLang="en-US" sz="1600" dirty="0"/>
              <a:t>进一步增强业务偏好建模，提升全量</a:t>
            </a:r>
            <a:r>
              <a:rPr lang="en-US" altLang="zh-CN" sz="1600" dirty="0"/>
              <a:t>/</a:t>
            </a:r>
            <a:r>
              <a:rPr lang="zh-CN" altLang="en-US" sz="1600" dirty="0"/>
              <a:t>独占召回，引入排序困难负样本后进一步强化排序偏好感知能力。</a:t>
            </a:r>
            <a:endParaRPr lang="en-US" altLang="zh-CN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</a:rPr>
              <a:t>线上收益： </a:t>
            </a:r>
            <a:r>
              <a:rPr lang="en" altLang="zh-CN" dirty="0">
                <a:solidFill>
                  <a:srgbClr val="333333"/>
                </a:solidFill>
                <a:latin typeface="Open Sans" panose="020B0606030504020204" pitchFamily="34" charset="0"/>
              </a:rPr>
              <a:t>PH </a:t>
            </a: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</a:rPr>
              <a:t>地区 </a:t>
            </a:r>
            <a:r>
              <a:rPr lang="en" altLang="zh-CN" b="1" dirty="0">
                <a:solidFill>
                  <a:srgbClr val="333333"/>
                </a:solidFill>
                <a:latin typeface="Open Sans" panose="020B0606030504020204" pitchFamily="34" charset="0"/>
              </a:rPr>
              <a:t>PV-CTR +1.45pp</a:t>
            </a:r>
            <a:r>
              <a:rPr lang="zh-CN" altLang="en" b="1" dirty="0">
                <a:solidFill>
                  <a:srgbClr val="333333"/>
                </a:solidFill>
                <a:latin typeface="Open Sans" panose="020B0606030504020204" pitchFamily="34" charset="0"/>
              </a:rPr>
              <a:t>，</a:t>
            </a:r>
            <a:r>
              <a:rPr lang="en" altLang="zh-CN" b="1" dirty="0">
                <a:solidFill>
                  <a:srgbClr val="333333"/>
                </a:solidFill>
                <a:latin typeface="Open Sans" panose="020B0606030504020204" pitchFamily="34" charset="0"/>
              </a:rPr>
              <a:t>PV-CTCVR +0.54pp</a:t>
            </a:r>
            <a:r>
              <a:rPr lang="zh-CN" altLang="en" dirty="0">
                <a:solidFill>
                  <a:srgbClr val="333333"/>
                </a:solidFill>
                <a:latin typeface="Open Sans" panose="020B0606030504020204" pitchFamily="34" charset="0"/>
              </a:rPr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2BF4DF-774D-788A-A108-C3D6D1609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7" y="3429000"/>
            <a:ext cx="10194425" cy="16624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6105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-US" altLang="zh-CN" sz="1800" dirty="0"/>
              <a:t>OneTrans</a:t>
            </a:r>
            <a:r>
              <a:rPr lang="zh-CN" altLang="en-US" sz="1800" dirty="0"/>
              <a:t>改造：</a:t>
            </a:r>
            <a:r>
              <a:rPr lang="en-US" altLang="zh-CN" sz="1800" dirty="0"/>
              <a:t>MixTrans</a:t>
            </a:r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FED72F-204B-8D03-4558-95645B857397}"/>
              </a:ext>
            </a:extLst>
          </p:cNvPr>
          <p:cNvSpPr txBox="1"/>
          <p:nvPr/>
        </p:nvSpPr>
        <p:spPr>
          <a:xfrm>
            <a:off x="136574" y="1551420"/>
            <a:ext cx="30722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核心改进：</a:t>
            </a:r>
            <a:endParaRPr lang="en-US" altLang="zh-CN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sz="1600" dirty="0"/>
              <a:t>统一短</a:t>
            </a:r>
            <a:r>
              <a:rPr lang="en-US" altLang="zh-CN" sz="1600" dirty="0"/>
              <a:t>/</a:t>
            </a:r>
            <a:r>
              <a:rPr lang="zh-CN" altLang="en-US" sz="1600" dirty="0"/>
              <a:t>长行为序，引入 </a:t>
            </a:r>
            <a:r>
              <a:rPr lang="en" altLang="zh-CN" sz="1600" dirty="0"/>
              <a:t>Type/Pos Embedding + </a:t>
            </a:r>
            <a:r>
              <a:rPr lang="zh-CN" altLang="en-US" sz="1600" dirty="0"/>
              <a:t>高效 </a:t>
            </a:r>
            <a:r>
              <a:rPr lang="en" altLang="zh-CN" sz="1600" dirty="0"/>
              <a:t>Cross Attention</a:t>
            </a:r>
            <a:endParaRPr lang="en-US" altLang="zh-CN" sz="16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sz="1600" dirty="0"/>
              <a:t>核心 </a:t>
            </a:r>
            <a:r>
              <a:rPr lang="en" altLang="zh-CN" sz="1600" dirty="0"/>
              <a:t>MixTrans </a:t>
            </a:r>
            <a:r>
              <a:rPr lang="zh-CN" altLang="en-US" sz="1600" dirty="0"/>
              <a:t>改为 </a:t>
            </a:r>
            <a:r>
              <a:rPr lang="en-US" altLang="zh-CN" sz="1600" dirty="0"/>
              <a:t>64→64→32→16 </a:t>
            </a:r>
            <a:r>
              <a:rPr lang="zh-CN" altLang="en-US" sz="1600" dirty="0"/>
              <a:t>金字塔结构</a:t>
            </a:r>
            <a:endParaRPr lang="zh-CN" alt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收益：</a:t>
            </a:r>
            <a:endParaRPr lang="en-US" altLang="zh-CN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sz="1600" dirty="0"/>
              <a:t> 综合 </a:t>
            </a:r>
            <a:r>
              <a:rPr lang="en" altLang="zh-CN" sz="1600" dirty="0"/>
              <a:t>AUC +0.</a:t>
            </a:r>
            <a:r>
              <a:rPr lang="en-US" altLang="zh-CN" sz="1600" dirty="0"/>
              <a:t>19</a:t>
            </a:r>
            <a:r>
              <a:rPr lang="en" altLang="zh-CN" sz="1600" dirty="0"/>
              <a:t>%</a:t>
            </a:r>
            <a:r>
              <a:rPr lang="zh-CN" altLang="en" sz="1600" dirty="0"/>
              <a:t>，</a:t>
            </a:r>
            <a:r>
              <a:rPr lang="zh-CN" altLang="en-US" sz="1600" dirty="0"/>
              <a:t>异形卡 </a:t>
            </a:r>
            <a:r>
              <a:rPr lang="en-US" altLang="zh-CN" sz="1600" dirty="0"/>
              <a:t>+0.27%</a:t>
            </a:r>
            <a:r>
              <a:rPr lang="zh-CN" altLang="en-US" sz="1600" dirty="0"/>
              <a:t>，训练吞吐 </a:t>
            </a:r>
            <a:r>
              <a:rPr lang="en-US" altLang="zh-CN" sz="1600" dirty="0"/>
              <a:t>+28%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2ABC04-9BE7-AAD1-2393-50641B815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817" y="1316329"/>
            <a:ext cx="8515643" cy="48454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1420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400" y="334080"/>
            <a:ext cx="10969200" cy="705600"/>
          </a:xfrm>
        </p:spPr>
        <p:txBody>
          <a:bodyPr/>
          <a:lstStyle/>
          <a:p>
            <a:r>
              <a:rPr lang="zh-CN" altLang="en-US" dirty="0"/>
              <a:t>阿里妈妈：搜索广告</a:t>
            </a:r>
            <a:r>
              <a:rPr lang="en-US" altLang="zh-CN" dirty="0"/>
              <a:t>-</a:t>
            </a:r>
            <a:r>
              <a:rPr lang="zh-CN" altLang="en-US" dirty="0"/>
              <a:t>营销托管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4521" y="1049400"/>
            <a:ext cx="11535079" cy="382368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核心问题</a:t>
            </a:r>
          </a:p>
          <a:p>
            <a:pPr lvl="1">
              <a:buFont typeface="Wingdings" pitchFamily="2" charset="2"/>
              <a:buChar char="Ø"/>
            </a:pPr>
            <a:r>
              <a:rPr lang="en" altLang="zh-CN" sz="1800" dirty="0">
                <a:solidFill>
                  <a:schemeClr val="tx1"/>
                </a:solidFill>
              </a:rPr>
              <a:t>AutoResearch</a:t>
            </a:r>
            <a:r>
              <a:rPr lang="zh-CN" altLang="en-US" sz="1800" dirty="0">
                <a:solidFill>
                  <a:schemeClr val="tx1"/>
                </a:solidFill>
              </a:rPr>
              <a:t>可信性不足：随机涨点与耦合改动易被误判，并通过长期记忆持续放大。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</a:rPr>
              <a:t>多渠道</a:t>
            </a:r>
            <a:r>
              <a:rPr lang="en" altLang="zh-CN" sz="1800" dirty="0">
                <a:solidFill>
                  <a:schemeClr val="tx1"/>
                </a:solidFill>
              </a:rPr>
              <a:t>Uplift</a:t>
            </a:r>
            <a:r>
              <a:rPr lang="zh-CN" altLang="en-US" sz="1800" dirty="0">
                <a:solidFill>
                  <a:schemeClr val="tx1"/>
                </a:solidFill>
              </a:rPr>
              <a:t>决策困难：逐渠道建模难刻画替代</a:t>
            </a:r>
            <a:r>
              <a:rPr lang="en-US" altLang="zh-CN" sz="1800" dirty="0">
                <a:solidFill>
                  <a:schemeClr val="tx1"/>
                </a:solidFill>
              </a:rPr>
              <a:t>/</a:t>
            </a:r>
            <a:r>
              <a:rPr lang="zh-CN" altLang="en-US" sz="1800" dirty="0">
                <a:solidFill>
                  <a:schemeClr val="tx1"/>
                </a:solidFill>
              </a:rPr>
              <a:t>挤出效应，</a:t>
            </a:r>
            <a:r>
              <a:rPr lang="en" altLang="zh-CN" sz="1800" dirty="0">
                <a:solidFill>
                  <a:schemeClr val="tx1"/>
                </a:solidFill>
              </a:rPr>
              <a:t>PTO</a:t>
            </a:r>
            <a:r>
              <a:rPr lang="zh-CN" altLang="en-US" sz="1800" dirty="0">
                <a:solidFill>
                  <a:schemeClr val="tx1"/>
                </a:solidFill>
              </a:rPr>
              <a:t>容易放大</a:t>
            </a:r>
            <a:r>
              <a:rPr lang="en" altLang="zh-CN" sz="1800" dirty="0">
                <a:solidFill>
                  <a:schemeClr val="tx1"/>
                </a:solidFill>
              </a:rPr>
              <a:t>OOD</a:t>
            </a:r>
            <a:r>
              <a:rPr lang="zh-CN" altLang="en-US" sz="1800" dirty="0">
                <a:solidFill>
                  <a:schemeClr val="tx1"/>
                </a:solidFill>
              </a:rPr>
              <a:t>外推误差。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核心贡献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</a:rPr>
              <a:t>归因驱动 </a:t>
            </a:r>
            <a:r>
              <a:rPr lang="en" altLang="zh-CN" sz="1800" dirty="0">
                <a:solidFill>
                  <a:schemeClr val="tx1"/>
                </a:solidFill>
              </a:rPr>
              <a:t>AutoResearch</a:t>
            </a:r>
            <a:r>
              <a:rPr lang="zh-CN" altLang="en" sz="1800" dirty="0">
                <a:solidFill>
                  <a:schemeClr val="tx1"/>
                </a:solidFill>
              </a:rPr>
              <a:t>：</a:t>
            </a:r>
            <a:r>
              <a:rPr lang="zh-CN" altLang="en-US" sz="1800" dirty="0">
                <a:solidFill>
                  <a:schemeClr val="tx1"/>
                </a:solidFill>
              </a:rPr>
              <a:t>构建 </a:t>
            </a:r>
            <a:r>
              <a:rPr lang="en" altLang="zh-CN" sz="1800" dirty="0">
                <a:solidFill>
                  <a:schemeClr val="tx1"/>
                </a:solidFill>
              </a:rPr>
              <a:t>AutoAttribRec </a:t>
            </a:r>
            <a:r>
              <a:rPr lang="zh-CN" altLang="en-US" sz="1800" dirty="0">
                <a:solidFill>
                  <a:schemeClr val="tx1"/>
                </a:solidFill>
              </a:rPr>
              <a:t>多 </a:t>
            </a:r>
            <a:r>
              <a:rPr lang="en" altLang="zh-CN" sz="1800" dirty="0">
                <a:solidFill>
                  <a:schemeClr val="tx1"/>
                </a:solidFill>
              </a:rPr>
              <a:t>Agent</a:t>
            </a:r>
            <a:r>
              <a:rPr lang="zh-CN" altLang="en" sz="1800" dirty="0">
                <a:solidFill>
                  <a:schemeClr val="tx1"/>
                </a:solidFill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</a:rPr>
              <a:t>通过“假设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代码</a:t>
            </a:r>
            <a:r>
              <a:rPr lang="en-US" altLang="zh-CN" sz="1800" dirty="0">
                <a:solidFill>
                  <a:schemeClr val="tx1"/>
                </a:solidFill>
              </a:rPr>
              <a:t>—</a:t>
            </a:r>
            <a:r>
              <a:rPr lang="zh-CN" altLang="en-US" sz="1800" dirty="0">
                <a:solidFill>
                  <a:schemeClr val="tx1"/>
                </a:solidFill>
              </a:rPr>
              <a:t>实验”三级归因验证 </a:t>
            </a:r>
            <a:r>
              <a:rPr lang="en-US" altLang="zh-CN" sz="1800" dirty="0">
                <a:solidFill>
                  <a:schemeClr val="tx1"/>
                </a:solidFill>
              </a:rPr>
              <a:t>+ </a:t>
            </a:r>
            <a:r>
              <a:rPr lang="en" altLang="zh-CN" sz="1800" dirty="0">
                <a:solidFill>
                  <a:schemeClr val="tx1"/>
                </a:solidFill>
              </a:rPr>
              <a:t>STM/LTM </a:t>
            </a:r>
            <a:r>
              <a:rPr lang="zh-CN" altLang="en-US" sz="1800" dirty="0">
                <a:solidFill>
                  <a:schemeClr val="tx1"/>
                </a:solidFill>
              </a:rPr>
              <a:t>可信记忆闭环，自动驱动问题重构、检索与代码生成；环境模型 </a:t>
            </a:r>
            <a:r>
              <a:rPr lang="en" altLang="zh-CN" sz="1800" dirty="0">
                <a:solidFill>
                  <a:schemeClr val="tx1"/>
                </a:solidFill>
              </a:rPr>
              <a:t>ACC30 +4.6pt</a:t>
            </a:r>
            <a:r>
              <a:rPr lang="zh-CN" altLang="en" sz="1800" dirty="0">
                <a:solidFill>
                  <a:schemeClr val="tx1"/>
                </a:solidFill>
              </a:rPr>
              <a:t>，</a:t>
            </a:r>
            <a:r>
              <a:rPr lang="en" altLang="zh-CN" sz="1800" dirty="0">
                <a:solidFill>
                  <a:schemeClr val="tx1"/>
                </a:solidFill>
              </a:rPr>
              <a:t>Uplift MAPE 49.83%→44.13%</a:t>
            </a:r>
            <a:r>
              <a:rPr lang="zh-CN" altLang="en" sz="1800" dirty="0">
                <a:solidFill>
                  <a:schemeClr val="tx1"/>
                </a:solidFill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</a:rPr>
              <a:t>相关工作投稿 </a:t>
            </a:r>
            <a:r>
              <a:rPr lang="en" altLang="zh-CN" sz="1800" dirty="0">
                <a:solidFill>
                  <a:schemeClr val="tx1"/>
                </a:solidFill>
              </a:rPr>
              <a:t>AAAI</a:t>
            </a:r>
            <a:r>
              <a:rPr lang="zh-CN" altLang="en" sz="1800" dirty="0">
                <a:solidFill>
                  <a:schemeClr val="tx1"/>
                </a:solidFill>
              </a:rPr>
              <a:t>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</a:rPr>
              <a:t>多渠道联合 </a:t>
            </a:r>
            <a:r>
              <a:rPr lang="en" altLang="zh-CN" sz="1800" dirty="0">
                <a:solidFill>
                  <a:schemeClr val="tx1"/>
                </a:solidFill>
              </a:rPr>
              <a:t>Uplift</a:t>
            </a:r>
            <a:r>
              <a:rPr lang="zh-CN" altLang="en" sz="1800" dirty="0">
                <a:solidFill>
                  <a:schemeClr val="tx1"/>
                </a:solidFill>
              </a:rPr>
              <a:t>：</a:t>
            </a:r>
            <a:r>
              <a:rPr lang="zh-CN" altLang="en-US" sz="1800" dirty="0">
                <a:solidFill>
                  <a:schemeClr val="tx1"/>
                </a:solidFill>
              </a:rPr>
              <a:t>提出</a:t>
            </a:r>
            <a:r>
              <a:rPr lang="en" altLang="zh-CN" sz="1800" dirty="0">
                <a:solidFill>
                  <a:schemeClr val="tx1"/>
                </a:solidFill>
              </a:rPr>
              <a:t>ReAlloc</a:t>
            </a:r>
            <a:r>
              <a:rPr lang="zh-CN" altLang="en-US" sz="1800" dirty="0">
                <a:solidFill>
                  <a:schemeClr val="tx1"/>
                </a:solidFill>
              </a:rPr>
              <a:t>快慢因果</a:t>
            </a:r>
            <a:r>
              <a:rPr lang="en" altLang="zh-CN" sz="1800" dirty="0">
                <a:solidFill>
                  <a:schemeClr val="tx1"/>
                </a:solidFill>
              </a:rPr>
              <a:t>Teacher–Student</a:t>
            </a:r>
            <a:r>
              <a:rPr lang="zh-CN" altLang="en" sz="1800" dirty="0">
                <a:solidFill>
                  <a:schemeClr val="tx1"/>
                </a:solidFill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</a:rPr>
              <a:t>将绝对</a:t>
            </a:r>
            <a:r>
              <a:rPr lang="en" altLang="zh-CN" sz="1800" dirty="0">
                <a:solidFill>
                  <a:schemeClr val="tx1"/>
                </a:solidFill>
              </a:rPr>
              <a:t>Uplift</a:t>
            </a:r>
            <a:r>
              <a:rPr lang="zh-CN" altLang="en-US" sz="1800" dirty="0">
                <a:solidFill>
                  <a:schemeClr val="tx1"/>
                </a:solidFill>
              </a:rPr>
              <a:t>转化为局部重分配边际收益，结合</a:t>
            </a:r>
            <a:r>
              <a:rPr lang="en" altLang="zh-CN" sz="1800" dirty="0">
                <a:solidFill>
                  <a:schemeClr val="tx1"/>
                </a:solidFill>
              </a:rPr>
              <a:t>Orthogonal Teacher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" altLang="zh-CN" sz="1800" dirty="0">
                <a:solidFill>
                  <a:schemeClr val="tx1"/>
                </a:solidFill>
              </a:rPr>
              <a:t> Potential Student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" altLang="zh-CN" sz="1800" dirty="0">
                <a:solidFill>
                  <a:schemeClr val="tx1"/>
                </a:solidFill>
              </a:rPr>
              <a:t> Jacobian Matching</a:t>
            </a:r>
            <a:r>
              <a:rPr lang="zh-CN" altLang="en-US" sz="1800" dirty="0">
                <a:solidFill>
                  <a:schemeClr val="tx1"/>
                </a:solidFill>
              </a:rPr>
              <a:t>与</a:t>
            </a:r>
            <a:r>
              <a:rPr lang="en" altLang="zh-CN" sz="1800" dirty="0">
                <a:solidFill>
                  <a:schemeClr val="tx1"/>
                </a:solidFill>
              </a:rPr>
              <a:t>Support/</a:t>
            </a:r>
            <a:r>
              <a:rPr lang="zh-CN" altLang="en-US" sz="1800" dirty="0">
                <a:solidFill>
                  <a:schemeClr val="tx1"/>
                </a:solidFill>
              </a:rPr>
              <a:t>不确定性约束，实现稳定、可积、</a:t>
            </a:r>
            <a:r>
              <a:rPr lang="en" altLang="zh-CN" sz="1800" dirty="0">
                <a:solidFill>
                  <a:schemeClr val="tx1"/>
                </a:solidFill>
              </a:rPr>
              <a:t>OOD</a:t>
            </a:r>
            <a:r>
              <a:rPr lang="zh-CN" altLang="en-US" sz="1800" dirty="0">
                <a:solidFill>
                  <a:schemeClr val="tx1"/>
                </a:solidFill>
              </a:rPr>
              <a:t>安全的策略更新；</a:t>
            </a:r>
            <a:r>
              <a:rPr lang="en-US" altLang="zh-CN" sz="1800" dirty="0">
                <a:solidFill>
                  <a:schemeClr val="tx1"/>
                </a:solidFill>
              </a:rPr>
              <a:t>14</a:t>
            </a:r>
            <a:r>
              <a:rPr lang="zh-CN" altLang="en-US" sz="1800" dirty="0">
                <a:solidFill>
                  <a:schemeClr val="tx1"/>
                </a:solidFill>
              </a:rPr>
              <a:t>天</a:t>
            </a:r>
            <a:r>
              <a:rPr lang="en-US" altLang="zh-CN" sz="1800" dirty="0">
                <a:solidFill>
                  <a:schemeClr val="tx1"/>
                </a:solidFill>
              </a:rPr>
              <a:t>30</a:t>
            </a:r>
            <a:r>
              <a:rPr lang="zh-CN" altLang="en-US" sz="1800" dirty="0">
                <a:solidFill>
                  <a:schemeClr val="tx1"/>
                </a:solidFill>
              </a:rPr>
              <a:t>万商品</a:t>
            </a:r>
            <a:r>
              <a:rPr lang="en" altLang="zh-CN" sz="1800" dirty="0">
                <a:solidFill>
                  <a:schemeClr val="tx1"/>
                </a:solidFill>
              </a:rPr>
              <a:t>A/B</a:t>
            </a:r>
            <a:r>
              <a:rPr lang="zh-CN" altLang="en-US" sz="1800" dirty="0">
                <a:solidFill>
                  <a:schemeClr val="tx1"/>
                </a:solidFill>
              </a:rPr>
              <a:t>中，</a:t>
            </a:r>
            <a:r>
              <a:rPr lang="en" altLang="zh-CN" sz="1800" dirty="0">
                <a:solidFill>
                  <a:schemeClr val="tx1"/>
                </a:solidFill>
              </a:rPr>
              <a:t>PayOrder</a:t>
            </a:r>
            <a:r>
              <a:rPr lang="en-US" altLang="zh-CN" sz="1800" dirty="0">
                <a:solidFill>
                  <a:schemeClr val="tx1"/>
                </a:solidFill>
              </a:rPr>
              <a:t>+</a:t>
            </a:r>
            <a:r>
              <a:rPr lang="en" altLang="zh-CN" sz="1800" dirty="0">
                <a:solidFill>
                  <a:schemeClr val="tx1"/>
                </a:solidFill>
              </a:rPr>
              <a:t>3.5%</a:t>
            </a:r>
            <a:r>
              <a:rPr lang="zh-CN" altLang="en" sz="1800" dirty="0">
                <a:solidFill>
                  <a:schemeClr val="tx1"/>
                </a:solidFill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</a:rPr>
              <a:t>平台收入</a:t>
            </a:r>
            <a:r>
              <a:rPr lang="en-US" altLang="zh-CN" sz="1800" dirty="0">
                <a:solidFill>
                  <a:schemeClr val="tx1"/>
                </a:solidFill>
              </a:rPr>
              <a:t>+3.2</a:t>
            </a:r>
            <a:r>
              <a:rPr lang="en" altLang="zh-CN" sz="1800" dirty="0">
                <a:solidFill>
                  <a:schemeClr val="tx1"/>
                </a:solidFill>
              </a:rPr>
              <a:t>pt</a:t>
            </a:r>
            <a:r>
              <a:rPr lang="zh-CN" altLang="en-US" sz="1800" dirty="0">
                <a:solidFill>
                  <a:schemeClr val="tx1"/>
                </a:solidFill>
              </a:rPr>
              <a:t>。</a:t>
            </a:r>
            <a:endParaRPr lang="zh-CN" altLang="e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8027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" altLang="zh-CN" sz="1800" dirty="0">
                <a:solidFill>
                  <a:schemeClr val="tx1"/>
                </a:solidFill>
              </a:rPr>
              <a:t>AutoAttribRec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77B457-592C-4BEA-A321-80F5774B4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1702" y="1802695"/>
            <a:ext cx="8928595" cy="420948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8AC7FFD-EEB1-6FF2-A026-B70F628B8758}"/>
              </a:ext>
            </a:extLst>
          </p:cNvPr>
          <p:cNvSpPr txBox="1"/>
          <p:nvPr/>
        </p:nvSpPr>
        <p:spPr>
          <a:xfrm>
            <a:off x="679450" y="1321032"/>
            <a:ext cx="7539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dirty="0"/>
              <a:t>背景：</a:t>
            </a:r>
            <a:r>
              <a:rPr lang="en" altLang="zh-CN" sz="1800" dirty="0">
                <a:solidFill>
                  <a:schemeClr val="tx1"/>
                </a:solidFill>
              </a:rPr>
              <a:t> </a:t>
            </a:r>
            <a:r>
              <a:rPr lang="zh-CN" altLang="en" sz="1800" dirty="0">
                <a:solidFill>
                  <a:schemeClr val="tx1"/>
                </a:solidFill>
              </a:rPr>
              <a:t>现有</a:t>
            </a:r>
            <a:r>
              <a:rPr lang="en" altLang="zh-CN" sz="1800" dirty="0">
                <a:solidFill>
                  <a:schemeClr val="tx1"/>
                </a:solidFill>
              </a:rPr>
              <a:t>AutoResearch</a:t>
            </a:r>
            <a:r>
              <a:rPr lang="zh-CN" altLang="en-US" sz="1800" dirty="0">
                <a:solidFill>
                  <a:schemeClr val="tx1"/>
                </a:solidFill>
              </a:rPr>
              <a:t>可信性不足，随机涨点与耦合改动易被误判</a:t>
            </a:r>
            <a:endParaRPr kumimoji="1"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3222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" altLang="zh-CN" sz="1800" dirty="0">
                <a:solidFill>
                  <a:schemeClr val="tx1"/>
                </a:solidFill>
              </a:rPr>
              <a:t>AutoAttribRec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718287-6426-01D6-2472-0EFD256A6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443" y="2421573"/>
            <a:ext cx="6958360" cy="33984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297C15-009A-56F2-043B-0CD2DB2715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784" y="1183817"/>
            <a:ext cx="5285679" cy="12377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8687A6F-B23F-E8D9-A899-9103D0B43B50}"/>
              </a:ext>
            </a:extLst>
          </p:cNvPr>
          <p:cNvSpPr txBox="1"/>
          <p:nvPr/>
        </p:nvSpPr>
        <p:spPr>
          <a:xfrm>
            <a:off x="266853" y="2083761"/>
            <a:ext cx="47065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sz="1600" b="1" dirty="0"/>
              <a:t>归因驱动的 </a:t>
            </a:r>
            <a:r>
              <a:rPr lang="en" altLang="zh-CN" sz="1600" b="1" dirty="0"/>
              <a:t>AutoAttribRec</a:t>
            </a:r>
            <a:endParaRPr lang="en-US" altLang="zh-CN" sz="16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sz="1600" dirty="0"/>
              <a:t>显式建模机制假设、代码干预与预期效应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sz="1600" b="1" dirty="0"/>
              <a:t>提案</a:t>
            </a:r>
            <a:r>
              <a:rPr lang="en-US" altLang="zh-CN" sz="1600" b="1" dirty="0"/>
              <a:t>—</a:t>
            </a:r>
            <a:r>
              <a:rPr lang="zh-CN" altLang="en-US" sz="1600" b="1" dirty="0"/>
              <a:t>代码</a:t>
            </a:r>
            <a:r>
              <a:rPr lang="en-US" altLang="zh-CN" sz="1600" b="1" dirty="0"/>
              <a:t>—</a:t>
            </a:r>
            <a:r>
              <a:rPr lang="zh-CN" altLang="en-US" sz="1600" b="1" dirty="0"/>
              <a:t>实验三级归因闭环 </a:t>
            </a:r>
            <a:r>
              <a:rPr lang="en-US" altLang="zh-CN" sz="1600" b="1" dirty="0"/>
              <a:t>+ </a:t>
            </a:r>
            <a:r>
              <a:rPr lang="en" altLang="zh-CN" sz="1600" b="1" dirty="0"/>
              <a:t>STM/LTM </a:t>
            </a:r>
            <a:r>
              <a:rPr lang="zh-CN" altLang="en-US" sz="1600" b="1" dirty="0"/>
              <a:t>可信记忆</a:t>
            </a:r>
            <a:endParaRPr lang="en-US" altLang="zh-CN" sz="16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sz="1600" dirty="0"/>
              <a:t>用实验偏差持续驱动问题重构、检索和代码生成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sz="1600" dirty="0"/>
              <a:t>落地 </a:t>
            </a:r>
            <a:r>
              <a:rPr lang="en" altLang="zh-CN" sz="1600" dirty="0"/>
              <a:t>AIGB </a:t>
            </a:r>
            <a:r>
              <a:rPr lang="zh-CN" altLang="en-US" sz="1600" dirty="0"/>
              <a:t>与 </a:t>
            </a:r>
            <a:r>
              <a:rPr lang="en" altLang="zh-CN" sz="1600" dirty="0"/>
              <a:t>Joint Uplift </a:t>
            </a:r>
            <a:r>
              <a:rPr lang="zh-CN" altLang="en-US" sz="1600" dirty="0"/>
              <a:t>自动迭代，</a:t>
            </a:r>
            <a:endParaRPr lang="en-US" altLang="zh-CN" sz="1600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" altLang="zh-CN" sz="1600" dirty="0"/>
              <a:t>AIGB</a:t>
            </a:r>
            <a:r>
              <a:rPr lang="zh-CN" altLang="en-US" sz="1600" dirty="0"/>
              <a:t>环境模型</a:t>
            </a:r>
            <a:r>
              <a:rPr lang="en" altLang="zh-CN" sz="1600" dirty="0"/>
              <a:t>ACC30 </a:t>
            </a:r>
            <a:r>
              <a:rPr lang="en" altLang="zh-CN" sz="1600" b="1" dirty="0"/>
              <a:t>+4.6pt</a:t>
            </a:r>
            <a:endParaRPr lang="en-US" altLang="zh-CN" sz="16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en" altLang="zh-CN" sz="1600" dirty="0"/>
              <a:t>Uplift MAPE </a:t>
            </a:r>
            <a:r>
              <a:rPr lang="en" altLang="zh-CN" sz="1600" b="1" dirty="0"/>
              <a:t>49.83%</a:t>
            </a:r>
            <a:r>
              <a:rPr lang="zh-CN" altLang="en" sz="1600" b="1" dirty="0"/>
              <a:t>降低</a:t>
            </a:r>
            <a:r>
              <a:rPr lang="zh-CN" altLang="en-US" sz="1600" b="1" dirty="0"/>
              <a:t>到</a:t>
            </a:r>
            <a:r>
              <a:rPr lang="en" altLang="zh-CN" sz="1600" b="1" dirty="0"/>
              <a:t>44.13%</a:t>
            </a:r>
            <a:endParaRPr lang="en-US" altLang="zh-CN" sz="1600" b="1" dirty="0"/>
          </a:p>
          <a:p>
            <a:pPr marL="742950" lvl="1" indent="-285750">
              <a:buFont typeface="Wingdings" pitchFamily="2" charset="2"/>
              <a:buChar char="Ø"/>
            </a:pPr>
            <a:r>
              <a:rPr lang="zh-CN" altLang="en-US" sz="1600" dirty="0"/>
              <a:t>相关工作投稿 </a:t>
            </a:r>
            <a:r>
              <a:rPr lang="en" altLang="zh-CN" sz="1600" dirty="0"/>
              <a:t>AAAI</a:t>
            </a:r>
            <a:endParaRPr lang="zh-CN" altLang="en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921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" altLang="zh-CN" sz="1800" dirty="0">
                <a:solidFill>
                  <a:schemeClr val="tx1"/>
                </a:solidFill>
              </a:rPr>
              <a:t>Joint-Uplift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094EC8-769D-60FB-7467-EA513EC689B7}"/>
              </a:ext>
            </a:extLst>
          </p:cNvPr>
          <p:cNvSpPr txBox="1"/>
          <p:nvPr/>
        </p:nvSpPr>
        <p:spPr>
          <a:xfrm>
            <a:off x="757141" y="1551420"/>
            <a:ext cx="106717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忽略跨渠道交互</a:t>
            </a:r>
            <a:r>
              <a:rPr lang="zh-CN" altLang="en-US" dirty="0"/>
              <a:t>：逐渠道独立建模无法刻画渠道间的替代与协同关系，难以找到联合最优分配</a:t>
            </a:r>
            <a:endParaRPr lang="en-US" altLang="zh-CN" dirty="0"/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全局优化存在外推风险</a:t>
            </a:r>
            <a:r>
              <a:rPr lang="zh-CN" altLang="en-US" dirty="0"/>
              <a:t>：优化器容易利用数据支持范围之外的预测误差，产生激进且不可靠的策略 </a:t>
            </a:r>
            <a:endParaRPr lang="en-US" altLang="zh-CN" dirty="0"/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b="1" dirty="0"/>
              <a:t>预测与决策目标错位</a:t>
            </a:r>
            <a:r>
              <a:rPr lang="zh-CN" altLang="en-US" dirty="0"/>
              <a:t>：事实预测准确不代表反事实排序可靠，误差还会被优化器进一步放大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7319D18-2A48-53E4-1E73-6B2D463C3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70" y="2997829"/>
            <a:ext cx="10533857" cy="32778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7981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" altLang="zh-CN" sz="1800" dirty="0">
                <a:solidFill>
                  <a:schemeClr val="tx1"/>
                </a:solidFill>
              </a:rPr>
              <a:t>Joint-Uplift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919F6E-8506-0FF3-228C-FB66DD2B0F7A}"/>
              </a:ext>
            </a:extLst>
          </p:cNvPr>
          <p:cNvSpPr txBox="1"/>
          <p:nvPr/>
        </p:nvSpPr>
        <p:spPr>
          <a:xfrm>
            <a:off x="608400" y="1371314"/>
            <a:ext cx="41378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提出 </a:t>
            </a:r>
            <a:r>
              <a:rPr lang="en" altLang="zh-CN" b="1" dirty="0"/>
              <a:t>ReAlloc </a:t>
            </a:r>
            <a:r>
              <a:rPr lang="zh-CN" altLang="en-US" b="1" dirty="0"/>
              <a:t>快慢因果 </a:t>
            </a:r>
            <a:r>
              <a:rPr lang="en" altLang="zh-CN" b="1" dirty="0"/>
              <a:t>Teacher–Student</a:t>
            </a:r>
            <a:r>
              <a:rPr lang="zh-CN" altLang="en" dirty="0"/>
              <a:t>：</a:t>
            </a:r>
            <a:r>
              <a:rPr lang="en" altLang="zh-CN" dirty="0"/>
              <a:t>Orthogonal Teacher </a:t>
            </a:r>
            <a:r>
              <a:rPr lang="zh-CN" altLang="en-US" dirty="0"/>
              <a:t>去混杂学习局部梯度，</a:t>
            </a:r>
            <a:r>
              <a:rPr lang="en" altLang="zh-CN" dirty="0"/>
              <a:t>Potential Student </a:t>
            </a:r>
            <a:r>
              <a:rPr lang="zh-CN" altLang="en-US" dirty="0"/>
              <a:t>蒸馏稳定可积的边际收益场。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结合 </a:t>
            </a:r>
            <a:r>
              <a:rPr lang="en" altLang="zh-CN" b="1" dirty="0"/>
              <a:t>Support + </a:t>
            </a:r>
            <a:r>
              <a:rPr lang="zh-CN" altLang="en-US" b="1" dirty="0"/>
              <a:t>不确定性约束</a:t>
            </a:r>
            <a:r>
              <a:rPr lang="zh-CN" altLang="en-US" dirty="0"/>
              <a:t>，只在历史支持区域内做保守局部重分配，避免激进 </a:t>
            </a:r>
            <a:r>
              <a:rPr lang="en" altLang="zh-CN" dirty="0"/>
              <a:t>OOD </a:t>
            </a:r>
            <a:r>
              <a:rPr lang="zh-CN" altLang="en-US" dirty="0"/>
              <a:t>决策。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altLang="zh-CN" dirty="0"/>
              <a:t>14 </a:t>
            </a:r>
            <a:r>
              <a:rPr lang="zh-CN" altLang="en-US" dirty="0"/>
              <a:t>天、</a:t>
            </a:r>
            <a:r>
              <a:rPr lang="en-US" altLang="zh-CN" dirty="0"/>
              <a:t>30 </a:t>
            </a:r>
            <a:r>
              <a:rPr lang="zh-CN" altLang="en-US" dirty="0"/>
              <a:t>万商品线上 </a:t>
            </a:r>
            <a:r>
              <a:rPr lang="en" altLang="zh-CN" dirty="0"/>
              <a:t>A/B</a:t>
            </a:r>
            <a:r>
              <a:rPr lang="zh-CN" altLang="en" dirty="0"/>
              <a:t>：</a:t>
            </a:r>
            <a:r>
              <a:rPr lang="en" altLang="zh-CN" b="1" dirty="0"/>
              <a:t>Pay Order +3.5%</a:t>
            </a:r>
            <a:r>
              <a:rPr lang="zh-CN" altLang="en" b="1" dirty="0"/>
              <a:t>，</a:t>
            </a:r>
            <a:r>
              <a:rPr lang="zh-CN" altLang="en-US" b="1" dirty="0"/>
              <a:t>平台收入 </a:t>
            </a:r>
            <a:r>
              <a:rPr lang="en-US" altLang="zh-CN" b="1" dirty="0"/>
              <a:t>+3.2</a:t>
            </a:r>
            <a:r>
              <a:rPr lang="en" altLang="zh-CN" b="1" dirty="0"/>
              <a:t>pt</a:t>
            </a:r>
            <a:r>
              <a:rPr lang="zh-CN" altLang="en-US" dirty="0"/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2FD0BF-05D8-88B7-23EF-EB390F317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397" y="1371314"/>
            <a:ext cx="6528063" cy="48916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1F82F6-1A1B-CBA4-2CC1-890B96F1F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29" y="4114068"/>
            <a:ext cx="4676508" cy="18981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1615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400" y="334080"/>
            <a:ext cx="10969200" cy="705600"/>
          </a:xfrm>
        </p:spPr>
        <p:txBody>
          <a:bodyPr/>
          <a:lstStyle/>
          <a:p>
            <a:r>
              <a:rPr lang="zh-CN" altLang="en-US" dirty="0"/>
              <a:t>学术工作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62D53E-77C1-F625-6EFA-8A7A4A6C3BC4}"/>
              </a:ext>
            </a:extLst>
          </p:cNvPr>
          <p:cNvSpPr txBox="1"/>
          <p:nvPr/>
        </p:nvSpPr>
        <p:spPr>
          <a:xfrm>
            <a:off x="144966" y="1194952"/>
            <a:ext cx="110508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" altLang="zh-CN" sz="1600" i="0" dirty="0">
                <a:effectLst/>
                <a:latin typeface="Noto Sans" panose="020B0604020202020204" pitchFamily="34" charset="0"/>
                <a:hlinkClick r:id="rId5"/>
              </a:rPr>
              <a:t>UNO! UNified Offline Training Paradigm for Learning Path Recommendation</a:t>
            </a:r>
            <a:r>
              <a:rPr lang="zh-CN" altLang="en-US" sz="16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，</a:t>
            </a:r>
            <a:r>
              <a:rPr lang="en-US" altLang="zh-CN" sz="16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AAAI</a:t>
            </a:r>
            <a:r>
              <a:rPr lang="zh-CN" altLang="en-US" sz="16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 </a:t>
            </a:r>
            <a:r>
              <a:rPr lang="en-US" altLang="zh-CN" sz="16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Oral</a:t>
            </a:r>
            <a:r>
              <a:rPr lang="zh-CN" altLang="en-US" sz="1600" i="0" dirty="0">
                <a:solidFill>
                  <a:schemeClr val="tx1"/>
                </a:solidFill>
                <a:effectLst/>
                <a:latin typeface="Noto Sans" panose="020B0604020202020204" pitchFamily="34" charset="0"/>
              </a:rPr>
              <a:t>，共一</a:t>
            </a:r>
            <a:endParaRPr lang="en" altLang="zh-CN" sz="1600" i="0" dirty="0">
              <a:solidFill>
                <a:schemeClr val="tx1"/>
              </a:solidFill>
              <a:effectLst/>
              <a:latin typeface="Noto Sans" panose="020B0604020202020204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zh-CN" sz="1600" dirty="0">
                <a:hlinkClick r:id="rId6"/>
              </a:rPr>
              <a:t>MTFM: A Scalable and Alignment-free Foundation Model for Industrial Recommendation in</a:t>
            </a:r>
            <a:r>
              <a:rPr lang="zh-CN" altLang="en-US" sz="1600" dirty="0">
                <a:hlinkClick r:id="rId6"/>
              </a:rPr>
              <a:t> </a:t>
            </a:r>
            <a:r>
              <a:rPr lang="en" altLang="zh-CN" sz="1600" dirty="0">
                <a:hlinkClick r:id="rId6"/>
              </a:rPr>
              <a:t>Meituan</a:t>
            </a:r>
            <a:r>
              <a:rPr lang="zh-CN" altLang="en-US" sz="1600" dirty="0">
                <a:solidFill>
                  <a:schemeClr val="tx1"/>
                </a:solidFill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</a:rPr>
              <a:t>Tech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Report</a:t>
            </a:r>
            <a:endParaRPr lang="en" altLang="zh-CN" sz="1600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zh-CN" sz="1600" i="0" dirty="0">
                <a:effectLst/>
                <a:latin typeface="Noto Sans" panose="020B0604020202020204" pitchFamily="34" charset="0"/>
                <a:hlinkClick r:id="rId7"/>
              </a:rPr>
              <a:t>A Conditional Diffusion-Based Method for Missing DataImputation in Tunnel Monitoring</a:t>
            </a:r>
            <a:r>
              <a:rPr lang="zh-CN" altLang="en-US" sz="1600" dirty="0">
                <a:solidFill>
                  <a:schemeClr val="tx1"/>
                </a:solidFill>
                <a:latin typeface="Noto Sans" panose="020B0604020202020204" pitchFamily="34" charset="0"/>
              </a:rPr>
              <a:t>，</a:t>
            </a:r>
            <a:r>
              <a:rPr lang="en-US" altLang="zh-CN" sz="1600" dirty="0">
                <a:solidFill>
                  <a:schemeClr val="tx1"/>
                </a:solidFill>
                <a:latin typeface="Noto Sans" panose="020B0604020202020204" pitchFamily="34" charset="0"/>
              </a:rPr>
              <a:t>Q1</a:t>
            </a:r>
            <a:r>
              <a:rPr lang="zh-CN" altLang="en-US" sz="1600" dirty="0">
                <a:solidFill>
                  <a:schemeClr val="tx1"/>
                </a:solidFill>
                <a:latin typeface="Noto Sans" panose="020B0604020202020204" pitchFamily="34" charset="0"/>
              </a:rPr>
              <a:t>，一作</a:t>
            </a:r>
            <a:endParaRPr lang="en" altLang="zh-CN" sz="1600" i="0" dirty="0">
              <a:solidFill>
                <a:schemeClr val="tx1"/>
              </a:solidFill>
              <a:effectLst/>
              <a:latin typeface="Noto Sans" panose="020B0604020202020204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" altLang="zh-CN" sz="1600" u="none" strike="noStrike" dirty="0">
                <a:solidFill>
                  <a:srgbClr val="3E6775"/>
                </a:solidFill>
                <a:effectLst/>
                <a:latin typeface="inherit"/>
                <a:hlinkClick r:id="rId8"/>
              </a:rPr>
              <a:t>AutoAttribRec: Attribution-Guided Self-Evolving Research for Recommender Systems</a:t>
            </a:r>
            <a:r>
              <a:rPr lang="zh-CN" altLang="en-US" sz="1600" u="none" strike="noStrike" dirty="0">
                <a:solidFill>
                  <a:schemeClr val="tx1"/>
                </a:solidFill>
                <a:effectLst/>
                <a:latin typeface="inherit"/>
              </a:rPr>
              <a:t>，</a:t>
            </a:r>
            <a:r>
              <a:rPr lang="en-US" altLang="zh-CN" sz="1600" u="none" strike="noStrike" dirty="0">
                <a:solidFill>
                  <a:schemeClr val="tx1"/>
                </a:solidFill>
                <a:effectLst/>
                <a:latin typeface="inherit"/>
              </a:rPr>
              <a:t>AAAI</a:t>
            </a:r>
            <a:r>
              <a:rPr lang="zh-CN" altLang="en-US" sz="1600" dirty="0">
                <a:solidFill>
                  <a:schemeClr val="tx1"/>
                </a:solidFill>
                <a:latin typeface="inherit"/>
              </a:rPr>
              <a:t>在</a:t>
            </a:r>
            <a:r>
              <a:rPr lang="zh-CN" altLang="en-US" sz="1600" u="none" strike="noStrike" dirty="0">
                <a:solidFill>
                  <a:schemeClr val="tx1"/>
                </a:solidFill>
                <a:effectLst/>
                <a:latin typeface="inherit"/>
              </a:rPr>
              <a:t>投，一作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8829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" altLang="zh-CN" sz="1800" dirty="0">
                <a:solidFill>
                  <a:schemeClr val="tx1"/>
                </a:solidFill>
              </a:rPr>
              <a:t>Uno: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基于统一离线训练范式的个性化学习路径推荐</a:t>
            </a:r>
            <a:r>
              <a:rPr lang="zh-CN" altLang="zh-CN" sz="1050" dirty="0">
                <a:effectLst/>
              </a:rPr>
              <a:t> 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094EC8-769D-60FB-7467-EA513EC689B7}"/>
              </a:ext>
            </a:extLst>
          </p:cNvPr>
          <p:cNvSpPr txBox="1"/>
          <p:nvPr/>
        </p:nvSpPr>
        <p:spPr>
          <a:xfrm>
            <a:off x="757141" y="1551420"/>
            <a:ext cx="106717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匿名 </a:t>
            </a:r>
            <a:r>
              <a:rPr lang="en" altLang="zh-CN" dirty="0"/>
              <a:t>Session </a:t>
            </a:r>
            <a:r>
              <a:rPr lang="zh-CN" altLang="en-US" dirty="0"/>
              <a:t>样本构建，忽略长期学习历史，个性化不足 </a:t>
            </a:r>
            <a:endParaRPr lang="en-US" altLang="zh-CN" dirty="0"/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稀疏结果奖励，难以衡量单个推荐题目的实际收益</a:t>
            </a:r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E7040DDC-8750-7647-960D-19ECE0B85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733" y="2197751"/>
            <a:ext cx="6138531" cy="38272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11555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" altLang="zh-CN" sz="1800" dirty="0">
                <a:solidFill>
                  <a:schemeClr val="tx1"/>
                </a:solidFill>
              </a:rPr>
              <a:t>Uno: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基于统一离线训练范式的个性化学习路径推荐</a:t>
            </a:r>
            <a:r>
              <a:rPr lang="zh-CN" altLang="zh-CN" sz="1050" dirty="0">
                <a:effectLst/>
              </a:rPr>
              <a:t> 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094EC8-769D-60FB-7467-EA513EC689B7}"/>
              </a:ext>
            </a:extLst>
          </p:cNvPr>
          <p:cNvSpPr txBox="1"/>
          <p:nvPr/>
        </p:nvSpPr>
        <p:spPr>
          <a:xfrm>
            <a:off x="608400" y="1479529"/>
            <a:ext cx="11051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统一题目</a:t>
            </a:r>
            <a:r>
              <a:rPr lang="en-US" altLang="zh-CN" dirty="0"/>
              <a:t>/</a:t>
            </a:r>
            <a:r>
              <a:rPr lang="zh-CN" altLang="en-US" dirty="0"/>
              <a:t>表现序列，联合建模长期知识水平 </a:t>
            </a:r>
            <a:r>
              <a:rPr lang="en" altLang="zh-CN" dirty="0"/>
              <a:t>KL </a:t>
            </a:r>
            <a:r>
              <a:rPr lang="zh-CN" altLang="en-US" dirty="0"/>
              <a:t>与题目结构 </a:t>
            </a:r>
            <a:r>
              <a:rPr lang="en" altLang="zh-CN" dirty="0"/>
              <a:t>KS</a:t>
            </a:r>
            <a:r>
              <a:rPr lang="zh-CN" altLang="en" dirty="0"/>
              <a:t>，</a:t>
            </a:r>
            <a:r>
              <a:rPr lang="zh-CN" altLang="en-US" dirty="0"/>
              <a:t>刻画学生长期积累与动态需求</a:t>
            </a:r>
            <a:endParaRPr lang="en-US" altLang="zh-CN" dirty="0"/>
          </a:p>
          <a:p>
            <a:pPr marL="285750" indent="-285750">
              <a:buFont typeface="Wingdings" pitchFamily="2" charset="2"/>
              <a:buChar char="Ø"/>
            </a:pPr>
            <a:r>
              <a:rPr lang="zh-CN" altLang="en-US" dirty="0"/>
              <a:t>利用 </a:t>
            </a:r>
            <a:r>
              <a:rPr lang="en" altLang="zh-CN" dirty="0"/>
              <a:t>KT </a:t>
            </a:r>
            <a:r>
              <a:rPr lang="zh-CN" altLang="en-US" dirty="0"/>
              <a:t>模型构建学生模拟环境和稠密过程奖励，在离线模拟环境中通过 </a:t>
            </a:r>
            <a:r>
              <a:rPr lang="en" altLang="zh-CN" dirty="0"/>
              <a:t>GRPO </a:t>
            </a:r>
            <a:r>
              <a:rPr lang="zh-CN" altLang="en-US" dirty="0"/>
              <a:t>优化推荐策略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4165FB-0CBC-35AA-B81C-CB8A457E5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543" y="2353093"/>
            <a:ext cx="10000913" cy="37825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7353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lstStyle/>
          <a:p>
            <a:r>
              <a:rPr lang="en" altLang="zh-CN" sz="1800" dirty="0">
                <a:solidFill>
                  <a:schemeClr val="tx1"/>
                </a:solidFill>
              </a:rPr>
              <a:t>Uno: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基于统一离线训练范式的个性化学习路径推荐</a:t>
            </a:r>
            <a:r>
              <a:rPr lang="zh-CN" altLang="zh-CN" sz="1050" dirty="0">
                <a:effectLst/>
              </a:rPr>
              <a:t> </a:t>
            </a:r>
            <a:endParaRPr lang="en-US" altLang="zh-CN" sz="1800" dirty="0"/>
          </a:p>
        </p:txBody>
      </p:sp>
      <p:sp>
        <p:nvSpPr>
          <p:cNvPr id="13" name="矩形 12"/>
          <p:cNvSpPr/>
          <p:nvPr/>
        </p:nvSpPr>
        <p:spPr>
          <a:xfrm>
            <a:off x="679450" y="845820"/>
            <a:ext cx="11129010" cy="2514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20BC98-F51F-58AE-3477-348BFA0D54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076" y="1245644"/>
            <a:ext cx="9763847" cy="53054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4207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88017C3-97F4-F64E-2190-A8440B259DCA}"/>
              </a:ext>
            </a:extLst>
          </p:cNvPr>
          <p:cNvSpPr txBox="1"/>
          <p:nvPr/>
        </p:nvSpPr>
        <p:spPr>
          <a:xfrm>
            <a:off x="3695343" y="3075057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dirty="0"/>
              <a:t>感谢您的宝贵时间！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20183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17836</TotalTime>
  <Words>3610</Words>
  <Application>Microsoft Macintosh PowerPoint</Application>
  <PresentationFormat>宽屏</PresentationFormat>
  <Paragraphs>239</Paragraphs>
  <Slides>36</Slides>
  <Notes>19</Notes>
  <HiddenSlides>5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宋体</vt:lpstr>
      <vt:lpstr>inherit</vt:lpstr>
      <vt:lpstr>Noto Serif CJK SC</vt:lpstr>
      <vt:lpstr>OpenSans-Bold</vt:lpstr>
      <vt:lpstr>OpenSans-Regular</vt:lpstr>
      <vt:lpstr>PingFangSC-Regular</vt:lpstr>
      <vt:lpstr>PingFangSC-Semibold</vt:lpstr>
      <vt:lpstr>Arial</vt:lpstr>
      <vt:lpstr>Calibri</vt:lpstr>
      <vt:lpstr>Cambria Math</vt:lpstr>
      <vt:lpstr>Noto Sans</vt:lpstr>
      <vt:lpstr>Open Sans</vt:lpstr>
      <vt:lpstr>Times New Roman</vt:lpstr>
      <vt:lpstr>Wingdings</vt:lpstr>
      <vt:lpstr>WPS</vt:lpstr>
      <vt:lpstr>朱文涛</vt:lpstr>
      <vt:lpstr>美团：MTFM、MTGR</vt:lpstr>
      <vt:lpstr>PowerPoint 演示文稿</vt:lpstr>
      <vt:lpstr>MTGR-USER粒度聚合样本</vt:lpstr>
      <vt:lpstr>背景：MTGR-模型结构</vt:lpstr>
      <vt:lpstr>背景：MTGR-Scaling</vt:lpstr>
      <vt:lpstr>MTFM-USER粒度聚合样本</vt:lpstr>
      <vt:lpstr>MTFM-统一样本</vt:lpstr>
      <vt:lpstr>MTFM-多业务统一MTGR模型（launch）</vt:lpstr>
      <vt:lpstr>MTFM-多业务动态混合掩码 </vt:lpstr>
      <vt:lpstr>MTFM-业务收益 </vt:lpstr>
      <vt:lpstr>MTGR-Scaling（launch）</vt:lpstr>
      <vt:lpstr>MTGR-Scaling（launch）</vt:lpstr>
      <vt:lpstr>MTGR-Scaling</vt:lpstr>
      <vt:lpstr>MTGR-参数量Scaling Up </vt:lpstr>
      <vt:lpstr>MTGR-高效特征交叉 </vt:lpstr>
      <vt:lpstr>快手：直播模型组OneLive</vt:lpstr>
      <vt:lpstr>OneLive-Tokenizer</vt:lpstr>
      <vt:lpstr>OneLive-GR MTP</vt:lpstr>
      <vt:lpstr>OneLive-三期</vt:lpstr>
      <vt:lpstr>召粗一体</vt:lpstr>
      <vt:lpstr>召粗一体</vt:lpstr>
      <vt:lpstr>字节：TT电商搜索词</vt:lpstr>
      <vt:lpstr>异形卡个性化召回</vt:lpstr>
      <vt:lpstr>异形卡个性化召回</vt:lpstr>
      <vt:lpstr>OneTrans改造：MixTrans</vt:lpstr>
      <vt:lpstr>阿里妈妈：搜索广告-营销托管</vt:lpstr>
      <vt:lpstr>AutoAttribRec</vt:lpstr>
      <vt:lpstr>AutoAttribRec</vt:lpstr>
      <vt:lpstr>Joint-Uplift</vt:lpstr>
      <vt:lpstr>Joint-Uplift</vt:lpstr>
      <vt:lpstr>学术工作</vt:lpstr>
      <vt:lpstr>Uno:基于统一离线训练范式的个性化学习路径推荐 </vt:lpstr>
      <vt:lpstr>Uno:基于统一离线训练范式的个性化学习路径推荐 </vt:lpstr>
      <vt:lpstr>Uno:基于统一离线训练范式的个性化学习路径推荐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1519464989@qq.com</cp:lastModifiedBy>
  <cp:revision>182</cp:revision>
  <dcterms:created xsi:type="dcterms:W3CDTF">2019-06-19T02:08:00Z</dcterms:created>
  <dcterms:modified xsi:type="dcterms:W3CDTF">2026-08-28T08:46:24Z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9859194B466E4B0A8168DF6533730559_11</vt:lpwstr>
  </property>
</Properties>
</file>